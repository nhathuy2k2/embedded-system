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2"/>
  </p:notesMasterIdLst>
  <p:sldIdLst>
    <p:sldId id="256" r:id="rId2"/>
    <p:sldId id="266" r:id="rId3"/>
    <p:sldId id="257" r:id="rId4"/>
    <p:sldId id="260" r:id="rId5"/>
    <p:sldId id="261" r:id="rId6"/>
    <p:sldId id="258" r:id="rId7"/>
    <p:sldId id="267" r:id="rId8"/>
    <p:sldId id="268" r:id="rId9"/>
    <p:sldId id="269" r:id="rId10"/>
    <p:sldId id="270" r:id="rId11"/>
    <p:sldId id="259" r:id="rId12"/>
    <p:sldId id="262" r:id="rId13"/>
    <p:sldId id="263" r:id="rId14"/>
    <p:sldId id="271" r:id="rId15"/>
    <p:sldId id="274"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6" r:id="rId38"/>
    <p:sldId id="297" r:id="rId39"/>
    <p:sldId id="300" r:id="rId40"/>
    <p:sldId id="298"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FF5F33"/>
    <a:srgbClr val="FF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5" autoAdjust="0"/>
    <p:restoredTop sz="92596" autoAdjust="0"/>
  </p:normalViewPr>
  <p:slideViewPr>
    <p:cSldViewPr>
      <p:cViewPr varScale="1">
        <p:scale>
          <a:sx n="89" d="100"/>
          <a:sy n="89" d="100"/>
        </p:scale>
        <p:origin x="91" y="1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9B9FAB-32E7-4645-8DF9-DAC617D052B1}" type="doc">
      <dgm:prSet loTypeId="urn:microsoft.com/office/officeart/2005/8/layout/radial5" loCatId="cycle" qsTypeId="urn:microsoft.com/office/officeart/2005/8/quickstyle/simple5" qsCatId="simple" csTypeId="urn:microsoft.com/office/officeart/2005/8/colors/colorful1" csCatId="colorful" phldr="1"/>
      <dgm:spPr/>
      <dgm:t>
        <a:bodyPr/>
        <a:lstStyle/>
        <a:p>
          <a:endParaRPr lang="en-US"/>
        </a:p>
      </dgm:t>
    </dgm:pt>
    <dgm:pt modelId="{15AE8AA3-12F1-4C9C-9497-9EDCD7DC789F}">
      <dgm:prSet phldrT="[Text]" custT="1"/>
      <dgm:spPr/>
      <dgm:t>
        <a:bodyPr/>
        <a:lstStyle/>
        <a:p>
          <a:r>
            <a:rPr lang="en-US" sz="1050" b="1" dirty="0"/>
            <a:t>Hardware Control</a:t>
          </a:r>
        </a:p>
      </dgm:t>
    </dgm:pt>
    <dgm:pt modelId="{2690F236-9C4A-4DF6-8F25-D5575E01A53B}" type="parTrans" cxnId="{EE9BC2E3-AF6A-48B8-BA66-690BCCB86DCE}">
      <dgm:prSet/>
      <dgm:spPr/>
      <dgm:t>
        <a:bodyPr/>
        <a:lstStyle/>
        <a:p>
          <a:endParaRPr lang="en-US"/>
        </a:p>
      </dgm:t>
    </dgm:pt>
    <dgm:pt modelId="{2248CC61-842E-4819-B2BD-0E89882B6A7C}" type="sibTrans" cxnId="{EE9BC2E3-AF6A-48B8-BA66-690BCCB86DCE}">
      <dgm:prSet/>
      <dgm:spPr/>
      <dgm:t>
        <a:bodyPr/>
        <a:lstStyle/>
        <a:p>
          <a:endParaRPr lang="en-US"/>
        </a:p>
      </dgm:t>
    </dgm:pt>
    <dgm:pt modelId="{A736AE27-88F5-441D-AEC5-B5DBA0C8DC36}">
      <dgm:prSet phldrT="[Text]"/>
      <dgm:spPr/>
      <dgm:t>
        <a:bodyPr/>
        <a:lstStyle/>
        <a:p>
          <a:endParaRPr lang="en-US" dirty="0"/>
        </a:p>
      </dgm:t>
    </dgm:pt>
    <dgm:pt modelId="{2F3B4E29-002D-4FC3-A66F-16DD6B62887A}" type="parTrans" cxnId="{679038C4-410D-4BAB-85D2-A76E9384764E}">
      <dgm:prSet/>
      <dgm:spPr/>
      <dgm:t>
        <a:bodyPr/>
        <a:lstStyle/>
        <a:p>
          <a:endParaRPr lang="en-US"/>
        </a:p>
      </dgm:t>
    </dgm:pt>
    <dgm:pt modelId="{D74E7B3A-3C51-45B0-9102-6255A3DD2048}" type="sibTrans" cxnId="{679038C4-410D-4BAB-85D2-A76E9384764E}">
      <dgm:prSet/>
      <dgm:spPr/>
      <dgm:t>
        <a:bodyPr/>
        <a:lstStyle/>
        <a:p>
          <a:endParaRPr lang="en-US"/>
        </a:p>
      </dgm:t>
    </dgm:pt>
    <dgm:pt modelId="{8198A705-2CFC-4317-AE34-ACF6CC6AD75F}">
      <dgm:prSet phldrT="[Text]" custT="1"/>
      <dgm:spPr/>
      <dgm:t>
        <a:bodyPr/>
        <a:lstStyle/>
        <a:p>
          <a:r>
            <a:rPr lang="en-US" sz="1050" b="1" dirty="0"/>
            <a:t>GUI tools</a:t>
          </a:r>
        </a:p>
      </dgm:t>
    </dgm:pt>
    <dgm:pt modelId="{0813AF43-A8BA-4872-BF35-9799A405161C}" type="sibTrans" cxnId="{4F07D91D-532D-4010-B74B-1745380A8493}">
      <dgm:prSet/>
      <dgm:spPr/>
      <dgm:t>
        <a:bodyPr/>
        <a:lstStyle/>
        <a:p>
          <a:endParaRPr lang="en-US"/>
        </a:p>
      </dgm:t>
    </dgm:pt>
    <dgm:pt modelId="{979D9202-E079-469A-B474-9BDE31C9D8CF}" type="parTrans" cxnId="{4F07D91D-532D-4010-B74B-1745380A8493}">
      <dgm:prSet/>
      <dgm:spPr/>
      <dgm:t>
        <a:bodyPr/>
        <a:lstStyle/>
        <a:p>
          <a:endParaRPr lang="en-US"/>
        </a:p>
      </dgm:t>
    </dgm:pt>
    <dgm:pt modelId="{8DC21F7B-4B3E-48B9-A9CC-226BAF219A02}">
      <dgm:prSet phldrT="[Text]" custT="1"/>
      <dgm:spPr/>
      <dgm:t>
        <a:bodyPr/>
        <a:lstStyle/>
        <a:p>
          <a:r>
            <a:rPr lang="en-US" sz="1050" b="1" dirty="0"/>
            <a:t>Computational </a:t>
          </a:r>
          <a:r>
            <a:rPr lang="en-US" sz="1050" b="1" dirty="0" err="1"/>
            <a:t>Infrastructurre</a:t>
          </a:r>
          <a:endParaRPr lang="en-US" sz="1050" b="1" dirty="0"/>
        </a:p>
      </dgm:t>
    </dgm:pt>
    <dgm:pt modelId="{F6082FEE-AC54-4801-8565-284104B4F57C}" type="sibTrans" cxnId="{3C5C29B8-F6F2-40AF-9C3D-53E14A53C102}">
      <dgm:prSet/>
      <dgm:spPr/>
      <dgm:t>
        <a:bodyPr/>
        <a:lstStyle/>
        <a:p>
          <a:endParaRPr lang="en-US"/>
        </a:p>
      </dgm:t>
    </dgm:pt>
    <dgm:pt modelId="{0EF50FBD-ED01-4EFF-B6E7-FCF384CDCAD6}" type="parTrans" cxnId="{3C5C29B8-F6F2-40AF-9C3D-53E14A53C102}">
      <dgm:prSet/>
      <dgm:spPr/>
      <dgm:t>
        <a:bodyPr/>
        <a:lstStyle/>
        <a:p>
          <a:endParaRPr lang="en-US"/>
        </a:p>
      </dgm:t>
    </dgm:pt>
    <dgm:pt modelId="{3B11BCBB-01F2-4041-9364-06805EA6E1CB}">
      <dgm:prSet phldrT="[Text]" custT="1"/>
      <dgm:spPr/>
      <dgm:t>
        <a:bodyPr/>
        <a:lstStyle/>
        <a:p>
          <a:r>
            <a:rPr lang="en-US" sz="1050" b="1" dirty="0"/>
            <a:t>Robotics algorithms</a:t>
          </a:r>
        </a:p>
      </dgm:t>
    </dgm:pt>
    <dgm:pt modelId="{85C7FE0A-BC13-49D1-9A2E-A7D9FEB42881}" type="sibTrans" cxnId="{D8F6958D-6CE1-42F6-B8C4-50C3F23DB2C9}">
      <dgm:prSet/>
      <dgm:spPr/>
      <dgm:t>
        <a:bodyPr/>
        <a:lstStyle/>
        <a:p>
          <a:endParaRPr lang="en-US"/>
        </a:p>
      </dgm:t>
    </dgm:pt>
    <dgm:pt modelId="{C8CFC543-8F7A-4171-808B-8A7F2A7B19D9}" type="parTrans" cxnId="{D8F6958D-6CE1-42F6-B8C4-50C3F23DB2C9}">
      <dgm:prSet/>
      <dgm:spPr/>
      <dgm:t>
        <a:bodyPr/>
        <a:lstStyle/>
        <a:p>
          <a:endParaRPr lang="en-US"/>
        </a:p>
      </dgm:t>
    </dgm:pt>
    <dgm:pt modelId="{4D1EB96D-FF42-4566-BB16-9F0550FA4CC7}">
      <dgm:prSet phldrT="[Text]"/>
      <dgm:spPr/>
      <dgm:t>
        <a:bodyPr/>
        <a:lstStyle/>
        <a:p>
          <a:r>
            <a:rPr lang="en-US" dirty="0"/>
            <a:t>ROS</a:t>
          </a:r>
        </a:p>
      </dgm:t>
    </dgm:pt>
    <dgm:pt modelId="{D24401EF-E584-4105-8D20-FFF9EC48422F}" type="sibTrans" cxnId="{7F96C930-1D3A-46CB-8B41-C6086FC0E978}">
      <dgm:prSet/>
      <dgm:spPr/>
      <dgm:t>
        <a:bodyPr/>
        <a:lstStyle/>
        <a:p>
          <a:endParaRPr lang="en-US"/>
        </a:p>
      </dgm:t>
    </dgm:pt>
    <dgm:pt modelId="{E582025B-8893-4FAD-9233-3FC7BB26566E}" type="parTrans" cxnId="{7F96C930-1D3A-46CB-8B41-C6086FC0E978}">
      <dgm:prSet/>
      <dgm:spPr/>
      <dgm:t>
        <a:bodyPr/>
        <a:lstStyle/>
        <a:p>
          <a:endParaRPr lang="en-US"/>
        </a:p>
      </dgm:t>
    </dgm:pt>
    <dgm:pt modelId="{B5B40297-C4AA-4601-8564-AB1846256777}" type="pres">
      <dgm:prSet presAssocID="{E19B9FAB-32E7-4645-8DF9-DAC617D052B1}" presName="Name0" presStyleCnt="0">
        <dgm:presLayoutVars>
          <dgm:chMax val="1"/>
          <dgm:dir/>
          <dgm:animLvl val="ctr"/>
          <dgm:resizeHandles val="exact"/>
        </dgm:presLayoutVars>
      </dgm:prSet>
      <dgm:spPr/>
    </dgm:pt>
    <dgm:pt modelId="{7A9F43ED-A03B-457F-B520-71FBFC7421DB}" type="pres">
      <dgm:prSet presAssocID="{4D1EB96D-FF42-4566-BB16-9F0550FA4CC7}" presName="centerShape" presStyleLbl="node0" presStyleIdx="0" presStyleCnt="1" custScaleX="192036" custScaleY="170699"/>
      <dgm:spPr/>
    </dgm:pt>
    <dgm:pt modelId="{F43DB300-9689-4936-9A07-9BE22C1347D6}" type="pres">
      <dgm:prSet presAssocID="{2690F236-9C4A-4DF6-8F25-D5575E01A53B}" presName="parTrans" presStyleLbl="sibTrans2D1" presStyleIdx="0" presStyleCnt="4"/>
      <dgm:spPr/>
    </dgm:pt>
    <dgm:pt modelId="{828DC3D7-395A-4C84-9BE5-69485385A91F}" type="pres">
      <dgm:prSet presAssocID="{2690F236-9C4A-4DF6-8F25-D5575E01A53B}" presName="connectorText" presStyleLbl="sibTrans2D1" presStyleIdx="0" presStyleCnt="4"/>
      <dgm:spPr/>
    </dgm:pt>
    <dgm:pt modelId="{057B34F4-2662-40D0-BEEA-6E7219BAF8E7}" type="pres">
      <dgm:prSet presAssocID="{15AE8AA3-12F1-4C9C-9497-9EDCD7DC789F}" presName="node" presStyleLbl="node1" presStyleIdx="0" presStyleCnt="4" custScaleX="181938" custRadScaleRad="138854" custRadScaleInc="107464">
        <dgm:presLayoutVars>
          <dgm:bulletEnabled val="1"/>
        </dgm:presLayoutVars>
      </dgm:prSet>
      <dgm:spPr/>
    </dgm:pt>
    <dgm:pt modelId="{0603B9E4-D7DD-40E9-9DB4-CF016BD7E053}" type="pres">
      <dgm:prSet presAssocID="{C8CFC543-8F7A-4171-808B-8A7F2A7B19D9}" presName="parTrans" presStyleLbl="sibTrans2D1" presStyleIdx="1" presStyleCnt="4"/>
      <dgm:spPr/>
    </dgm:pt>
    <dgm:pt modelId="{790EEAC6-5FD8-469E-83B9-379F178FBCCF}" type="pres">
      <dgm:prSet presAssocID="{C8CFC543-8F7A-4171-808B-8A7F2A7B19D9}" presName="connectorText" presStyleLbl="sibTrans2D1" presStyleIdx="1" presStyleCnt="4"/>
      <dgm:spPr/>
    </dgm:pt>
    <dgm:pt modelId="{99BB5CEB-6CC9-4DFC-BB77-2E6C4EDE9672}" type="pres">
      <dgm:prSet presAssocID="{3B11BCBB-01F2-4041-9364-06805EA6E1CB}" presName="node" presStyleLbl="node1" presStyleIdx="1" presStyleCnt="4" custScaleX="187080" custRadScaleRad="138715" custRadScaleInc="88493">
        <dgm:presLayoutVars>
          <dgm:bulletEnabled val="1"/>
        </dgm:presLayoutVars>
      </dgm:prSet>
      <dgm:spPr/>
    </dgm:pt>
    <dgm:pt modelId="{D7D58EA5-90B7-4FF1-AAAE-00A94A047BED}" type="pres">
      <dgm:prSet presAssocID="{0EF50FBD-ED01-4EFF-B6E7-FCF384CDCAD6}" presName="parTrans" presStyleLbl="sibTrans2D1" presStyleIdx="2" presStyleCnt="4"/>
      <dgm:spPr/>
    </dgm:pt>
    <dgm:pt modelId="{95998814-2789-4BBC-B34D-45FD12EB8D87}" type="pres">
      <dgm:prSet presAssocID="{0EF50FBD-ED01-4EFF-B6E7-FCF384CDCAD6}" presName="connectorText" presStyleLbl="sibTrans2D1" presStyleIdx="2" presStyleCnt="4"/>
      <dgm:spPr/>
    </dgm:pt>
    <dgm:pt modelId="{8D5287B8-1B07-451A-B95D-079E8EB3BEFD}" type="pres">
      <dgm:prSet presAssocID="{8DC21F7B-4B3E-48B9-A9CC-226BAF219A02}" presName="node" presStyleLbl="node1" presStyleIdx="2" presStyleCnt="4" custScaleX="193452" custRadScaleRad="133771" custRadScaleInc="106458">
        <dgm:presLayoutVars>
          <dgm:bulletEnabled val="1"/>
        </dgm:presLayoutVars>
      </dgm:prSet>
      <dgm:spPr/>
    </dgm:pt>
    <dgm:pt modelId="{7BA3FA30-A4D6-41F8-A717-A94339C3C670}" type="pres">
      <dgm:prSet presAssocID="{979D9202-E079-469A-B474-9BDE31C9D8CF}" presName="parTrans" presStyleLbl="sibTrans2D1" presStyleIdx="3" presStyleCnt="4"/>
      <dgm:spPr/>
    </dgm:pt>
    <dgm:pt modelId="{2803A8F3-D29B-4F17-9411-233687D8FA7D}" type="pres">
      <dgm:prSet presAssocID="{979D9202-E079-469A-B474-9BDE31C9D8CF}" presName="connectorText" presStyleLbl="sibTrans2D1" presStyleIdx="3" presStyleCnt="4"/>
      <dgm:spPr/>
    </dgm:pt>
    <dgm:pt modelId="{D8DB38A4-D73C-44A5-A827-BADDDE2620A3}" type="pres">
      <dgm:prSet presAssocID="{8198A705-2CFC-4317-AE34-ACF6CC6AD75F}" presName="node" presStyleLbl="node1" presStyleIdx="3" presStyleCnt="4" custScaleX="191389" custRadScaleRad="145920" custRadScaleInc="103865">
        <dgm:presLayoutVars>
          <dgm:bulletEnabled val="1"/>
        </dgm:presLayoutVars>
      </dgm:prSet>
      <dgm:spPr/>
    </dgm:pt>
  </dgm:ptLst>
  <dgm:cxnLst>
    <dgm:cxn modelId="{4F07D91D-532D-4010-B74B-1745380A8493}" srcId="{4D1EB96D-FF42-4566-BB16-9F0550FA4CC7}" destId="{8198A705-2CFC-4317-AE34-ACF6CC6AD75F}" srcOrd="3" destOrd="0" parTransId="{979D9202-E079-469A-B474-9BDE31C9D8CF}" sibTransId="{0813AF43-A8BA-4872-BF35-9799A405161C}"/>
    <dgm:cxn modelId="{7F96C930-1D3A-46CB-8B41-C6086FC0E978}" srcId="{E19B9FAB-32E7-4645-8DF9-DAC617D052B1}" destId="{4D1EB96D-FF42-4566-BB16-9F0550FA4CC7}" srcOrd="0" destOrd="0" parTransId="{E582025B-8893-4FAD-9233-3FC7BB26566E}" sibTransId="{D24401EF-E584-4105-8D20-FFF9EC48422F}"/>
    <dgm:cxn modelId="{32F40539-0F07-431C-B263-F7EE88197973}" type="presOf" srcId="{C8CFC543-8F7A-4171-808B-8A7F2A7B19D9}" destId="{0603B9E4-D7DD-40E9-9DB4-CF016BD7E053}" srcOrd="0" destOrd="0" presId="urn:microsoft.com/office/officeart/2005/8/layout/radial5"/>
    <dgm:cxn modelId="{AF61EA3C-CAC0-424D-AA56-7D4A6AA12B5C}" type="presOf" srcId="{0EF50FBD-ED01-4EFF-B6E7-FCF384CDCAD6}" destId="{95998814-2789-4BBC-B34D-45FD12EB8D87}" srcOrd="1" destOrd="0" presId="urn:microsoft.com/office/officeart/2005/8/layout/radial5"/>
    <dgm:cxn modelId="{30CC1944-D42C-4FD5-9003-29283E1E72AF}" type="presOf" srcId="{0EF50FBD-ED01-4EFF-B6E7-FCF384CDCAD6}" destId="{D7D58EA5-90B7-4FF1-AAAE-00A94A047BED}" srcOrd="0" destOrd="0" presId="urn:microsoft.com/office/officeart/2005/8/layout/radial5"/>
    <dgm:cxn modelId="{1A56B968-6E55-4807-A071-0215FED0C6A9}" type="presOf" srcId="{4D1EB96D-FF42-4566-BB16-9F0550FA4CC7}" destId="{7A9F43ED-A03B-457F-B520-71FBFC7421DB}" srcOrd="0" destOrd="0" presId="urn:microsoft.com/office/officeart/2005/8/layout/radial5"/>
    <dgm:cxn modelId="{E58CD56B-C9F7-483B-BEFA-0DF7D2818DD6}" type="presOf" srcId="{15AE8AA3-12F1-4C9C-9497-9EDCD7DC789F}" destId="{057B34F4-2662-40D0-BEEA-6E7219BAF8E7}" srcOrd="0" destOrd="0" presId="urn:microsoft.com/office/officeart/2005/8/layout/radial5"/>
    <dgm:cxn modelId="{CE097C6D-7A29-4847-998F-CDD0DD39C9B8}" type="presOf" srcId="{C8CFC543-8F7A-4171-808B-8A7F2A7B19D9}" destId="{790EEAC6-5FD8-469E-83B9-379F178FBCCF}" srcOrd="1" destOrd="0" presId="urn:microsoft.com/office/officeart/2005/8/layout/radial5"/>
    <dgm:cxn modelId="{D8F6958D-6CE1-42F6-B8C4-50C3F23DB2C9}" srcId="{4D1EB96D-FF42-4566-BB16-9F0550FA4CC7}" destId="{3B11BCBB-01F2-4041-9364-06805EA6E1CB}" srcOrd="1" destOrd="0" parTransId="{C8CFC543-8F7A-4171-808B-8A7F2A7B19D9}" sibTransId="{85C7FE0A-BC13-49D1-9A2E-A7D9FEB42881}"/>
    <dgm:cxn modelId="{937600B3-C474-4CE4-AA9B-52681143C89D}" type="presOf" srcId="{979D9202-E079-469A-B474-9BDE31C9D8CF}" destId="{2803A8F3-D29B-4F17-9411-233687D8FA7D}" srcOrd="1" destOrd="0" presId="urn:microsoft.com/office/officeart/2005/8/layout/radial5"/>
    <dgm:cxn modelId="{3C5C29B8-F6F2-40AF-9C3D-53E14A53C102}" srcId="{4D1EB96D-FF42-4566-BB16-9F0550FA4CC7}" destId="{8DC21F7B-4B3E-48B9-A9CC-226BAF219A02}" srcOrd="2" destOrd="0" parTransId="{0EF50FBD-ED01-4EFF-B6E7-FCF384CDCAD6}" sibTransId="{F6082FEE-AC54-4801-8565-284104B4F57C}"/>
    <dgm:cxn modelId="{D11E0EB9-93BC-4546-A5BE-3C081D6A5542}" type="presOf" srcId="{2690F236-9C4A-4DF6-8F25-D5575E01A53B}" destId="{828DC3D7-395A-4C84-9BE5-69485385A91F}" srcOrd="1" destOrd="0" presId="urn:microsoft.com/office/officeart/2005/8/layout/radial5"/>
    <dgm:cxn modelId="{72ADDFBC-6C67-431F-9732-03D17932054B}" type="presOf" srcId="{3B11BCBB-01F2-4041-9364-06805EA6E1CB}" destId="{99BB5CEB-6CC9-4DFC-BB77-2E6C4EDE9672}" srcOrd="0" destOrd="0" presId="urn:microsoft.com/office/officeart/2005/8/layout/radial5"/>
    <dgm:cxn modelId="{0A8733C0-E64F-4D78-8F06-96B8DEA5FD83}" type="presOf" srcId="{8DC21F7B-4B3E-48B9-A9CC-226BAF219A02}" destId="{8D5287B8-1B07-451A-B95D-079E8EB3BEFD}" srcOrd="0" destOrd="0" presId="urn:microsoft.com/office/officeart/2005/8/layout/radial5"/>
    <dgm:cxn modelId="{679038C4-410D-4BAB-85D2-A76E9384764E}" srcId="{E19B9FAB-32E7-4645-8DF9-DAC617D052B1}" destId="{A736AE27-88F5-441D-AEC5-B5DBA0C8DC36}" srcOrd="1" destOrd="0" parTransId="{2F3B4E29-002D-4FC3-A66F-16DD6B62887A}" sibTransId="{D74E7B3A-3C51-45B0-9102-6255A3DD2048}"/>
    <dgm:cxn modelId="{02E55DCB-E0D3-43F1-B7DB-9F948909F93C}" type="presOf" srcId="{2690F236-9C4A-4DF6-8F25-D5575E01A53B}" destId="{F43DB300-9689-4936-9A07-9BE22C1347D6}" srcOrd="0" destOrd="0" presId="urn:microsoft.com/office/officeart/2005/8/layout/radial5"/>
    <dgm:cxn modelId="{907FE3E1-5C4C-4F87-AA44-CB95BED2BD8E}" type="presOf" srcId="{979D9202-E079-469A-B474-9BDE31C9D8CF}" destId="{7BA3FA30-A4D6-41F8-A717-A94339C3C670}" srcOrd="0" destOrd="0" presId="urn:microsoft.com/office/officeart/2005/8/layout/radial5"/>
    <dgm:cxn modelId="{EE9BC2E3-AF6A-48B8-BA66-690BCCB86DCE}" srcId="{4D1EB96D-FF42-4566-BB16-9F0550FA4CC7}" destId="{15AE8AA3-12F1-4C9C-9497-9EDCD7DC789F}" srcOrd="0" destOrd="0" parTransId="{2690F236-9C4A-4DF6-8F25-D5575E01A53B}" sibTransId="{2248CC61-842E-4819-B2BD-0E89882B6A7C}"/>
    <dgm:cxn modelId="{CE8A4DE4-A1AF-4017-B262-90FD681350D6}" type="presOf" srcId="{E19B9FAB-32E7-4645-8DF9-DAC617D052B1}" destId="{B5B40297-C4AA-4601-8564-AB1846256777}" srcOrd="0" destOrd="0" presId="urn:microsoft.com/office/officeart/2005/8/layout/radial5"/>
    <dgm:cxn modelId="{490E74F6-0FD1-48E1-9B90-5B9090DE1E75}" type="presOf" srcId="{8198A705-2CFC-4317-AE34-ACF6CC6AD75F}" destId="{D8DB38A4-D73C-44A5-A827-BADDDE2620A3}" srcOrd="0" destOrd="0" presId="urn:microsoft.com/office/officeart/2005/8/layout/radial5"/>
    <dgm:cxn modelId="{C1C0B494-2CAC-44AD-8B15-E2D9A77BF5AB}" type="presParOf" srcId="{B5B40297-C4AA-4601-8564-AB1846256777}" destId="{7A9F43ED-A03B-457F-B520-71FBFC7421DB}" srcOrd="0" destOrd="0" presId="urn:microsoft.com/office/officeart/2005/8/layout/radial5"/>
    <dgm:cxn modelId="{524EE449-B341-4084-A702-AD0E5530A39B}" type="presParOf" srcId="{B5B40297-C4AA-4601-8564-AB1846256777}" destId="{F43DB300-9689-4936-9A07-9BE22C1347D6}" srcOrd="1" destOrd="0" presId="urn:microsoft.com/office/officeart/2005/8/layout/radial5"/>
    <dgm:cxn modelId="{10CFB413-DEBC-4B3D-BA23-66C272EFFD09}" type="presParOf" srcId="{F43DB300-9689-4936-9A07-9BE22C1347D6}" destId="{828DC3D7-395A-4C84-9BE5-69485385A91F}" srcOrd="0" destOrd="0" presId="urn:microsoft.com/office/officeart/2005/8/layout/radial5"/>
    <dgm:cxn modelId="{3A786703-FE33-433A-B9B7-27554C128DE6}" type="presParOf" srcId="{B5B40297-C4AA-4601-8564-AB1846256777}" destId="{057B34F4-2662-40D0-BEEA-6E7219BAF8E7}" srcOrd="2" destOrd="0" presId="urn:microsoft.com/office/officeart/2005/8/layout/radial5"/>
    <dgm:cxn modelId="{047F4523-7F12-44C9-81FA-92A11C16B37E}" type="presParOf" srcId="{B5B40297-C4AA-4601-8564-AB1846256777}" destId="{0603B9E4-D7DD-40E9-9DB4-CF016BD7E053}" srcOrd="3" destOrd="0" presId="urn:microsoft.com/office/officeart/2005/8/layout/radial5"/>
    <dgm:cxn modelId="{31B6D2E1-6B29-4705-9627-36524433BB0D}" type="presParOf" srcId="{0603B9E4-D7DD-40E9-9DB4-CF016BD7E053}" destId="{790EEAC6-5FD8-469E-83B9-379F178FBCCF}" srcOrd="0" destOrd="0" presId="urn:microsoft.com/office/officeart/2005/8/layout/radial5"/>
    <dgm:cxn modelId="{A2664D8D-C6B6-4DC7-95B9-F6F4823B41AB}" type="presParOf" srcId="{B5B40297-C4AA-4601-8564-AB1846256777}" destId="{99BB5CEB-6CC9-4DFC-BB77-2E6C4EDE9672}" srcOrd="4" destOrd="0" presId="urn:microsoft.com/office/officeart/2005/8/layout/radial5"/>
    <dgm:cxn modelId="{B8F04404-1D45-4D91-9A59-39E1ACFB6DD0}" type="presParOf" srcId="{B5B40297-C4AA-4601-8564-AB1846256777}" destId="{D7D58EA5-90B7-4FF1-AAAE-00A94A047BED}" srcOrd="5" destOrd="0" presId="urn:microsoft.com/office/officeart/2005/8/layout/radial5"/>
    <dgm:cxn modelId="{D87D5612-A52B-4706-A867-DBFC8D8F3D46}" type="presParOf" srcId="{D7D58EA5-90B7-4FF1-AAAE-00A94A047BED}" destId="{95998814-2789-4BBC-B34D-45FD12EB8D87}" srcOrd="0" destOrd="0" presId="urn:microsoft.com/office/officeart/2005/8/layout/radial5"/>
    <dgm:cxn modelId="{3B2AE1FA-A12D-4D6B-B9BB-1AB62BDBDAC7}" type="presParOf" srcId="{B5B40297-C4AA-4601-8564-AB1846256777}" destId="{8D5287B8-1B07-451A-B95D-079E8EB3BEFD}" srcOrd="6" destOrd="0" presId="urn:microsoft.com/office/officeart/2005/8/layout/radial5"/>
    <dgm:cxn modelId="{7FFB5066-3577-4265-8DAE-47D721B28D37}" type="presParOf" srcId="{B5B40297-C4AA-4601-8564-AB1846256777}" destId="{7BA3FA30-A4D6-41F8-A717-A94339C3C670}" srcOrd="7" destOrd="0" presId="urn:microsoft.com/office/officeart/2005/8/layout/radial5"/>
    <dgm:cxn modelId="{C70CB4E7-A68F-445A-AC69-ACE6271842E1}" type="presParOf" srcId="{7BA3FA30-A4D6-41F8-A717-A94339C3C670}" destId="{2803A8F3-D29B-4F17-9411-233687D8FA7D}" srcOrd="0" destOrd="0" presId="urn:microsoft.com/office/officeart/2005/8/layout/radial5"/>
    <dgm:cxn modelId="{D1D1151D-CCF9-44B8-BD80-075818B6536B}" type="presParOf" srcId="{B5B40297-C4AA-4601-8564-AB1846256777}" destId="{D8DB38A4-D73C-44A5-A827-BADDDE2620A3}" srcOrd="8"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9F43ED-A03B-457F-B520-71FBFC7421DB}">
      <dsp:nvSpPr>
        <dsp:cNvPr id="0" name=""/>
        <dsp:cNvSpPr/>
      </dsp:nvSpPr>
      <dsp:spPr>
        <a:xfrm>
          <a:off x="2929966" y="847253"/>
          <a:ext cx="1551252" cy="1378893"/>
        </a:xfrm>
        <a:prstGeom prst="ellipse">
          <a:avLst/>
        </a:prstGeom>
        <a:gradFill rotWithShape="0">
          <a:gsLst>
            <a:gs pos="0">
              <a:schemeClr val="accent1">
                <a:hueOff val="0"/>
                <a:satOff val="0"/>
                <a:lumOff val="0"/>
                <a:alphaOff val="0"/>
                <a:shade val="70000"/>
                <a:satMod val="150000"/>
              </a:schemeClr>
            </a:gs>
            <a:gs pos="34000">
              <a:schemeClr val="accent1">
                <a:hueOff val="0"/>
                <a:satOff val="0"/>
                <a:lumOff val="0"/>
                <a:alphaOff val="0"/>
                <a:shade val="70000"/>
                <a:satMod val="140000"/>
              </a:schemeClr>
            </a:gs>
            <a:gs pos="70000">
              <a:schemeClr val="accent1">
                <a:hueOff val="0"/>
                <a:satOff val="0"/>
                <a:lumOff val="0"/>
                <a:alphaOff val="0"/>
                <a:tint val="100000"/>
                <a:shade val="90000"/>
                <a:satMod val="140000"/>
              </a:schemeClr>
            </a:gs>
            <a:gs pos="100000">
              <a:schemeClr val="accent1">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1">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1511300">
            <a:lnSpc>
              <a:spcPct val="90000"/>
            </a:lnSpc>
            <a:spcBef>
              <a:spcPct val="0"/>
            </a:spcBef>
            <a:spcAft>
              <a:spcPct val="35000"/>
            </a:spcAft>
            <a:buNone/>
          </a:pPr>
          <a:r>
            <a:rPr lang="en-US" sz="3400" kern="1200" dirty="0"/>
            <a:t>ROS</a:t>
          </a:r>
        </a:p>
      </dsp:txBody>
      <dsp:txXfrm>
        <a:off x="3157142" y="1049187"/>
        <a:ext cx="1096900" cy="975025"/>
      </dsp:txXfrm>
    </dsp:sp>
    <dsp:sp modelId="{F43DB300-9689-4936-9A07-9BE22C1347D6}">
      <dsp:nvSpPr>
        <dsp:cNvPr id="0" name=""/>
        <dsp:cNvSpPr/>
      </dsp:nvSpPr>
      <dsp:spPr>
        <a:xfrm rot="19101528">
          <a:off x="4285009" y="809153"/>
          <a:ext cx="168810" cy="274649"/>
        </a:xfrm>
        <a:prstGeom prst="rightArrow">
          <a:avLst>
            <a:gd name="adj1" fmla="val 60000"/>
            <a:gd name="adj2" fmla="val 50000"/>
          </a:avLst>
        </a:prstGeom>
        <a:gradFill rotWithShape="0">
          <a:gsLst>
            <a:gs pos="0">
              <a:schemeClr val="accent2">
                <a:hueOff val="0"/>
                <a:satOff val="0"/>
                <a:lumOff val="0"/>
                <a:alphaOff val="0"/>
                <a:shade val="70000"/>
                <a:satMod val="150000"/>
              </a:schemeClr>
            </a:gs>
            <a:gs pos="34000">
              <a:schemeClr val="accent2">
                <a:hueOff val="0"/>
                <a:satOff val="0"/>
                <a:lumOff val="0"/>
                <a:alphaOff val="0"/>
                <a:shade val="70000"/>
                <a:satMod val="140000"/>
              </a:schemeClr>
            </a:gs>
            <a:gs pos="70000">
              <a:schemeClr val="accent2">
                <a:hueOff val="0"/>
                <a:satOff val="0"/>
                <a:lumOff val="0"/>
                <a:alphaOff val="0"/>
                <a:tint val="100000"/>
                <a:shade val="90000"/>
                <a:satMod val="140000"/>
              </a:schemeClr>
            </a:gs>
            <a:gs pos="100000">
              <a:schemeClr val="accent2">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291407" y="880908"/>
        <a:ext cx="118167" cy="164789"/>
      </dsp:txXfrm>
    </dsp:sp>
    <dsp:sp modelId="{057B34F4-2662-40D0-BEEA-6E7219BAF8E7}">
      <dsp:nvSpPr>
        <dsp:cNvPr id="0" name=""/>
        <dsp:cNvSpPr/>
      </dsp:nvSpPr>
      <dsp:spPr>
        <a:xfrm>
          <a:off x="4143551" y="90034"/>
          <a:ext cx="1469681" cy="807792"/>
        </a:xfrm>
        <a:prstGeom prst="ellipse">
          <a:avLst/>
        </a:prstGeom>
        <a:gradFill rotWithShape="0">
          <a:gsLst>
            <a:gs pos="0">
              <a:schemeClr val="accent2">
                <a:hueOff val="0"/>
                <a:satOff val="0"/>
                <a:lumOff val="0"/>
                <a:alphaOff val="0"/>
                <a:shade val="70000"/>
                <a:satMod val="150000"/>
              </a:schemeClr>
            </a:gs>
            <a:gs pos="34000">
              <a:schemeClr val="accent2">
                <a:hueOff val="0"/>
                <a:satOff val="0"/>
                <a:lumOff val="0"/>
                <a:alphaOff val="0"/>
                <a:shade val="70000"/>
                <a:satMod val="140000"/>
              </a:schemeClr>
            </a:gs>
            <a:gs pos="70000">
              <a:schemeClr val="accent2">
                <a:hueOff val="0"/>
                <a:satOff val="0"/>
                <a:lumOff val="0"/>
                <a:alphaOff val="0"/>
                <a:tint val="100000"/>
                <a:shade val="90000"/>
                <a:satMod val="140000"/>
              </a:schemeClr>
            </a:gs>
            <a:gs pos="100000">
              <a:schemeClr val="accent2">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2">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Hardware Control</a:t>
          </a:r>
        </a:p>
      </dsp:txBody>
      <dsp:txXfrm>
        <a:off x="4358781" y="208332"/>
        <a:ext cx="1039221" cy="571196"/>
      </dsp:txXfrm>
    </dsp:sp>
    <dsp:sp modelId="{0603B9E4-D7DD-40E9-9DB4-CF016BD7E053}">
      <dsp:nvSpPr>
        <dsp:cNvPr id="0" name=""/>
        <dsp:cNvSpPr/>
      </dsp:nvSpPr>
      <dsp:spPr>
        <a:xfrm rot="2389311">
          <a:off x="4303567" y="1964322"/>
          <a:ext cx="159141" cy="274649"/>
        </a:xfrm>
        <a:prstGeom prst="rightArrow">
          <a:avLst>
            <a:gd name="adj1" fmla="val 60000"/>
            <a:gd name="adj2" fmla="val 50000"/>
          </a:avLst>
        </a:prstGeom>
        <a:gradFill rotWithShape="0">
          <a:gsLst>
            <a:gs pos="0">
              <a:schemeClr val="accent3">
                <a:hueOff val="0"/>
                <a:satOff val="0"/>
                <a:lumOff val="0"/>
                <a:alphaOff val="0"/>
                <a:shade val="70000"/>
                <a:satMod val="150000"/>
              </a:schemeClr>
            </a:gs>
            <a:gs pos="34000">
              <a:schemeClr val="accent3">
                <a:hueOff val="0"/>
                <a:satOff val="0"/>
                <a:lumOff val="0"/>
                <a:alphaOff val="0"/>
                <a:shade val="70000"/>
                <a:satMod val="140000"/>
              </a:schemeClr>
            </a:gs>
            <a:gs pos="70000">
              <a:schemeClr val="accent3">
                <a:hueOff val="0"/>
                <a:satOff val="0"/>
                <a:lumOff val="0"/>
                <a:alphaOff val="0"/>
                <a:tint val="100000"/>
                <a:shade val="90000"/>
                <a:satMod val="140000"/>
              </a:schemeClr>
            </a:gs>
            <a:gs pos="100000">
              <a:schemeClr val="accent3">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3">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4309104" y="2003965"/>
        <a:ext cx="111399" cy="164789"/>
      </dsp:txXfrm>
    </dsp:sp>
    <dsp:sp modelId="{99BB5CEB-6CC9-4DFC-BB77-2E6C4EDE9672}">
      <dsp:nvSpPr>
        <dsp:cNvPr id="0" name=""/>
        <dsp:cNvSpPr/>
      </dsp:nvSpPr>
      <dsp:spPr>
        <a:xfrm>
          <a:off x="4154091" y="2136806"/>
          <a:ext cx="1511217" cy="807792"/>
        </a:xfrm>
        <a:prstGeom prst="ellipse">
          <a:avLst/>
        </a:prstGeom>
        <a:gradFill rotWithShape="0">
          <a:gsLst>
            <a:gs pos="0">
              <a:schemeClr val="accent3">
                <a:hueOff val="0"/>
                <a:satOff val="0"/>
                <a:lumOff val="0"/>
                <a:alphaOff val="0"/>
                <a:shade val="70000"/>
                <a:satMod val="150000"/>
              </a:schemeClr>
            </a:gs>
            <a:gs pos="34000">
              <a:schemeClr val="accent3">
                <a:hueOff val="0"/>
                <a:satOff val="0"/>
                <a:lumOff val="0"/>
                <a:alphaOff val="0"/>
                <a:shade val="70000"/>
                <a:satMod val="140000"/>
              </a:schemeClr>
            </a:gs>
            <a:gs pos="70000">
              <a:schemeClr val="accent3">
                <a:hueOff val="0"/>
                <a:satOff val="0"/>
                <a:lumOff val="0"/>
                <a:alphaOff val="0"/>
                <a:tint val="100000"/>
                <a:shade val="90000"/>
                <a:satMod val="140000"/>
              </a:schemeClr>
            </a:gs>
            <a:gs pos="100000">
              <a:schemeClr val="accent3">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3">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Robotics algorithms</a:t>
          </a:r>
        </a:p>
      </dsp:txBody>
      <dsp:txXfrm>
        <a:off x="4375404" y="2255104"/>
        <a:ext cx="1068591" cy="571196"/>
      </dsp:txXfrm>
    </dsp:sp>
    <dsp:sp modelId="{D7D58EA5-90B7-4FF1-AAAE-00A94A047BED}">
      <dsp:nvSpPr>
        <dsp:cNvPr id="0" name=""/>
        <dsp:cNvSpPr/>
      </dsp:nvSpPr>
      <dsp:spPr>
        <a:xfrm rot="8274366">
          <a:off x="3001727" y="1973986"/>
          <a:ext cx="135589" cy="274649"/>
        </a:xfrm>
        <a:prstGeom prst="rightArrow">
          <a:avLst>
            <a:gd name="adj1" fmla="val 60000"/>
            <a:gd name="adj2" fmla="val 50000"/>
          </a:avLst>
        </a:prstGeom>
        <a:gradFill rotWithShape="0">
          <a:gsLst>
            <a:gs pos="0">
              <a:schemeClr val="accent4">
                <a:hueOff val="0"/>
                <a:satOff val="0"/>
                <a:lumOff val="0"/>
                <a:alphaOff val="0"/>
                <a:shade val="70000"/>
                <a:satMod val="150000"/>
              </a:schemeClr>
            </a:gs>
            <a:gs pos="34000">
              <a:schemeClr val="accent4">
                <a:hueOff val="0"/>
                <a:satOff val="0"/>
                <a:lumOff val="0"/>
                <a:alphaOff val="0"/>
                <a:shade val="70000"/>
                <a:satMod val="140000"/>
              </a:schemeClr>
            </a:gs>
            <a:gs pos="70000">
              <a:schemeClr val="accent4">
                <a:hueOff val="0"/>
                <a:satOff val="0"/>
                <a:lumOff val="0"/>
                <a:alphaOff val="0"/>
                <a:tint val="100000"/>
                <a:shade val="90000"/>
                <a:satMod val="140000"/>
              </a:schemeClr>
            </a:gs>
            <a:gs pos="100000">
              <a:schemeClr val="accent4">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4">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037158" y="2015282"/>
        <a:ext cx="94912" cy="164789"/>
      </dsp:txXfrm>
    </dsp:sp>
    <dsp:sp modelId="{8D5287B8-1B07-451A-B95D-079E8EB3BEFD}">
      <dsp:nvSpPr>
        <dsp:cNvPr id="0" name=""/>
        <dsp:cNvSpPr/>
      </dsp:nvSpPr>
      <dsp:spPr>
        <a:xfrm>
          <a:off x="1802353" y="2146296"/>
          <a:ext cx="1562690" cy="807792"/>
        </a:xfrm>
        <a:prstGeom prst="ellipse">
          <a:avLst/>
        </a:prstGeom>
        <a:gradFill rotWithShape="0">
          <a:gsLst>
            <a:gs pos="0">
              <a:schemeClr val="accent4">
                <a:hueOff val="0"/>
                <a:satOff val="0"/>
                <a:lumOff val="0"/>
                <a:alphaOff val="0"/>
                <a:shade val="70000"/>
                <a:satMod val="150000"/>
              </a:schemeClr>
            </a:gs>
            <a:gs pos="34000">
              <a:schemeClr val="accent4">
                <a:hueOff val="0"/>
                <a:satOff val="0"/>
                <a:lumOff val="0"/>
                <a:alphaOff val="0"/>
                <a:shade val="70000"/>
                <a:satMod val="140000"/>
              </a:schemeClr>
            </a:gs>
            <a:gs pos="70000">
              <a:schemeClr val="accent4">
                <a:hueOff val="0"/>
                <a:satOff val="0"/>
                <a:lumOff val="0"/>
                <a:alphaOff val="0"/>
                <a:tint val="100000"/>
                <a:shade val="90000"/>
                <a:satMod val="140000"/>
              </a:schemeClr>
            </a:gs>
            <a:gs pos="100000">
              <a:schemeClr val="accent4">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4">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Computational </a:t>
          </a:r>
          <a:r>
            <a:rPr lang="en-US" sz="1050" b="1" kern="1200" dirty="0" err="1"/>
            <a:t>Infrastructurre</a:t>
          </a:r>
          <a:endParaRPr lang="en-US" sz="1050" b="1" kern="1200" dirty="0"/>
        </a:p>
      </dsp:txBody>
      <dsp:txXfrm>
        <a:off x="2031204" y="2264594"/>
        <a:ext cx="1104988" cy="571196"/>
      </dsp:txXfrm>
    </dsp:sp>
    <dsp:sp modelId="{7BA3FA30-A4D6-41F8-A717-A94339C3C670}">
      <dsp:nvSpPr>
        <dsp:cNvPr id="0" name=""/>
        <dsp:cNvSpPr/>
      </dsp:nvSpPr>
      <dsp:spPr>
        <a:xfrm rot="13503912">
          <a:off x="2968806" y="758023"/>
          <a:ext cx="193786" cy="274649"/>
        </a:xfrm>
        <a:prstGeom prst="rightArrow">
          <a:avLst>
            <a:gd name="adj1" fmla="val 60000"/>
            <a:gd name="adj2" fmla="val 50000"/>
          </a:avLst>
        </a:prstGeom>
        <a:gradFill rotWithShape="0">
          <a:gsLst>
            <a:gs pos="0">
              <a:schemeClr val="accent5">
                <a:hueOff val="0"/>
                <a:satOff val="0"/>
                <a:lumOff val="0"/>
                <a:alphaOff val="0"/>
                <a:shade val="70000"/>
                <a:satMod val="150000"/>
              </a:schemeClr>
            </a:gs>
            <a:gs pos="34000">
              <a:schemeClr val="accent5">
                <a:hueOff val="0"/>
                <a:satOff val="0"/>
                <a:lumOff val="0"/>
                <a:alphaOff val="0"/>
                <a:shade val="70000"/>
                <a:satMod val="140000"/>
              </a:schemeClr>
            </a:gs>
            <a:gs pos="70000">
              <a:schemeClr val="accent5">
                <a:hueOff val="0"/>
                <a:satOff val="0"/>
                <a:lumOff val="0"/>
                <a:alphaOff val="0"/>
                <a:tint val="100000"/>
                <a:shade val="90000"/>
                <a:satMod val="140000"/>
              </a:schemeClr>
            </a:gs>
            <a:gs pos="100000">
              <a:schemeClr val="accent5">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5">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3018405" y="833531"/>
        <a:ext cx="135650" cy="164789"/>
      </dsp:txXfrm>
    </dsp:sp>
    <dsp:sp modelId="{D8DB38A4-D73C-44A5-A827-BADDDE2620A3}">
      <dsp:nvSpPr>
        <dsp:cNvPr id="0" name=""/>
        <dsp:cNvSpPr/>
      </dsp:nvSpPr>
      <dsp:spPr>
        <a:xfrm>
          <a:off x="1802351" y="0"/>
          <a:ext cx="1546025" cy="807792"/>
        </a:xfrm>
        <a:prstGeom prst="ellipse">
          <a:avLst/>
        </a:prstGeom>
        <a:gradFill rotWithShape="0">
          <a:gsLst>
            <a:gs pos="0">
              <a:schemeClr val="accent5">
                <a:hueOff val="0"/>
                <a:satOff val="0"/>
                <a:lumOff val="0"/>
                <a:alphaOff val="0"/>
                <a:shade val="70000"/>
                <a:satMod val="150000"/>
              </a:schemeClr>
            </a:gs>
            <a:gs pos="34000">
              <a:schemeClr val="accent5">
                <a:hueOff val="0"/>
                <a:satOff val="0"/>
                <a:lumOff val="0"/>
                <a:alphaOff val="0"/>
                <a:shade val="70000"/>
                <a:satMod val="140000"/>
              </a:schemeClr>
            </a:gs>
            <a:gs pos="70000">
              <a:schemeClr val="accent5">
                <a:hueOff val="0"/>
                <a:satOff val="0"/>
                <a:lumOff val="0"/>
                <a:alphaOff val="0"/>
                <a:tint val="100000"/>
                <a:shade val="90000"/>
                <a:satMod val="140000"/>
              </a:schemeClr>
            </a:gs>
            <a:gs pos="100000">
              <a:schemeClr val="accent5">
                <a:hueOff val="0"/>
                <a:satOff val="0"/>
                <a:lumOff val="0"/>
                <a:alphaOff val="0"/>
                <a:tint val="100000"/>
                <a:shade val="100000"/>
                <a:satMod val="100000"/>
              </a:schemeClr>
            </a:gs>
          </a:gsLst>
          <a:path path="circle">
            <a:fillToRect l="100000" t="100000" r="100000" b="100000"/>
          </a:path>
        </a:gradFill>
        <a:ln>
          <a:noFill/>
        </a:ln>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accent5">
              <a:hueOff val="0"/>
              <a:satOff val="0"/>
              <a:lumOff val="0"/>
              <a:alphaOff val="0"/>
              <a:shade val="30000"/>
              <a:satMod val="13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b="1" kern="1200" dirty="0"/>
            <a:t>GUI tools</a:t>
          </a:r>
        </a:p>
      </dsp:txBody>
      <dsp:txXfrm>
        <a:off x="2028761" y="118298"/>
        <a:ext cx="1093205" cy="571196"/>
      </dsp:txXfrm>
    </dsp:sp>
  </dsp:spTree>
</dsp:drawing>
</file>

<file path=ppt/diagrams/layout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7A33C2-6F37-4DE9-AAF9-8ABC356AE657}" type="datetimeFigureOut">
              <a:rPr lang="en-US" smtClean="0"/>
              <a:t>5/7/2023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DAE4680-6E9A-445B-9304-F7D1A27E0E47}" type="slidenum">
              <a:rPr lang="en-US" smtClean="0"/>
              <a:t>‹#›</a:t>
            </a:fld>
            <a:endParaRPr lang="en-US"/>
          </a:p>
        </p:txBody>
      </p:sp>
    </p:spTree>
    <p:extLst>
      <p:ext uri="{BB962C8B-B14F-4D97-AF65-F5344CB8AC3E}">
        <p14:creationId xmlns:p14="http://schemas.microsoft.com/office/powerpoint/2010/main" val="36241373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wiki.ros.org/catkin"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a:t>
            </a:fld>
            <a:endParaRPr lang="en-US"/>
          </a:p>
        </p:txBody>
      </p:sp>
    </p:spTree>
    <p:extLst>
      <p:ext uri="{BB962C8B-B14F-4D97-AF65-F5344CB8AC3E}">
        <p14:creationId xmlns:p14="http://schemas.microsoft.com/office/powerpoint/2010/main" val="1086294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LiberationSerif"/>
              </a:rPr>
              <a:t>1. A set of drivers that let you read data from sensors and send commands to motors and other actuators, in an abstracted, well-defined format. A wide variety of popular hardware is supported, including a growing number of commercially available robot systems.</a:t>
            </a:r>
          </a:p>
          <a:p>
            <a:pPr algn="l"/>
            <a:r>
              <a:rPr lang="en-US" sz="1800" b="0" i="0" u="none" strike="noStrike" baseline="0" dirty="0">
                <a:latin typeface="LiberationSerif"/>
              </a:rPr>
              <a:t>2. A large and growing collection of fundamental robotics algorithms that allow you to build maps of the world, navigate around it, represent and interpret sensor data, plan motions, manipulate objects, and do a lot of other stuff. ROS has become very popular in the robotics research community, and a lot of cutting-edge algorithms are</a:t>
            </a:r>
          </a:p>
          <a:p>
            <a:pPr algn="l"/>
            <a:r>
              <a:rPr lang="en-US" sz="1800" b="0" i="0" u="none" strike="noStrike" baseline="0" dirty="0">
                <a:latin typeface="LiberationSerif"/>
              </a:rPr>
              <a:t>now available in ROS.</a:t>
            </a:r>
          </a:p>
          <a:p>
            <a:pPr algn="l"/>
            <a:r>
              <a:rPr lang="en-US" sz="1800" b="0" i="0" u="none" strike="noStrike" baseline="0" dirty="0">
                <a:latin typeface="LiberationSerif"/>
              </a:rPr>
              <a:t>3. All of the computational infrastructure that allows you to move data around, to connect the various components of a complex robot system, and to incorporate your</a:t>
            </a:r>
          </a:p>
          <a:p>
            <a:pPr algn="l"/>
            <a:r>
              <a:rPr lang="en-US" sz="1800" b="0" i="0" u="none" strike="noStrike" baseline="0" dirty="0">
                <a:latin typeface="LiberationSerif"/>
              </a:rPr>
              <a:t>own algorithms. ROS is inherently distributed and allows you to split the workload across multiple computers seamlessly.</a:t>
            </a:r>
          </a:p>
          <a:p>
            <a:pPr algn="l"/>
            <a:r>
              <a:rPr lang="en-US" sz="1800" b="0" i="0" u="none" strike="noStrike" baseline="0" dirty="0">
                <a:latin typeface="LiberationSerif"/>
              </a:rPr>
              <a:t>4. A large set of tools that make it easy to visualize the state of the robot and the algorithms, debug faulty behaviors, and record sensor data. Debugging robot</a:t>
            </a:r>
          </a:p>
          <a:p>
            <a:pPr algn="l"/>
            <a:r>
              <a:rPr lang="en-US" sz="1800" b="0" i="0" u="none" strike="noStrike" baseline="0" dirty="0">
                <a:latin typeface="LiberationSerif"/>
              </a:rPr>
              <a:t>software is notoriously difficult, and this rich set of tools is one of the things that make ROS as powerful as it is.</a:t>
            </a:r>
            <a:endParaRPr lang="en-US" dirty="0"/>
          </a:p>
        </p:txBody>
      </p:sp>
      <p:sp>
        <p:nvSpPr>
          <p:cNvPr id="4" name="Slide Number Placeholder 3"/>
          <p:cNvSpPr>
            <a:spLocks noGrp="1"/>
          </p:cNvSpPr>
          <p:nvPr>
            <p:ph type="sldNum" sz="quarter" idx="5"/>
          </p:nvPr>
        </p:nvSpPr>
        <p:spPr/>
        <p:txBody>
          <a:bodyPr/>
          <a:lstStyle/>
          <a:p>
            <a:fld id="{CDAE4680-6E9A-445B-9304-F7D1A27E0E47}" type="slidenum">
              <a:rPr lang="en-US" smtClean="0"/>
              <a:t>3</a:t>
            </a:fld>
            <a:endParaRPr lang="en-US"/>
          </a:p>
        </p:txBody>
      </p:sp>
    </p:spTree>
    <p:extLst>
      <p:ext uri="{BB962C8B-B14F-4D97-AF65-F5344CB8AC3E}">
        <p14:creationId xmlns:p14="http://schemas.microsoft.com/office/powerpoint/2010/main" val="2871093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ROS is a very large collection of loosely federated packages. That means lots of independent packages which depend on each other, utilize various programming languages, tools, and code organization conventions. Because of this, the build process for a target in some package may be completely different from the way another target is built. </a:t>
            </a:r>
            <a:r>
              <a:rPr lang="en-US" sz="1200" b="0" i="0" u="none" strike="noStrike" kern="1200" dirty="0">
                <a:solidFill>
                  <a:schemeClr val="tx1"/>
                </a:solidFill>
                <a:effectLst/>
                <a:latin typeface="+mn-lt"/>
                <a:ea typeface="+mn-ea"/>
                <a:cs typeface="+mn-cs"/>
                <a:hlinkClick r:id="rId3"/>
              </a:rPr>
              <a:t>catkin</a:t>
            </a:r>
            <a:r>
              <a:rPr lang="en-US" sz="1200" b="0" i="0" kern="1200" dirty="0">
                <a:solidFill>
                  <a:schemeClr val="tx1"/>
                </a:solidFill>
                <a:effectLst/>
                <a:latin typeface="+mn-lt"/>
                <a:ea typeface="+mn-ea"/>
                <a:cs typeface="+mn-cs"/>
              </a:rPr>
              <a:t> specifically tries to improve development on large sets of related packages in a consistent and conventional way. </a:t>
            </a:r>
          </a:p>
          <a:p>
            <a:r>
              <a:rPr lang="en-US" sz="1200" b="0" i="0" kern="1200" dirty="0">
                <a:solidFill>
                  <a:schemeClr val="tx1"/>
                </a:solidFill>
                <a:effectLst/>
                <a:latin typeface="+mn-lt"/>
                <a:ea typeface="+mn-ea"/>
                <a:cs typeface="+mn-cs"/>
              </a:rPr>
              <a:t>Multi-language support</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8</a:t>
            </a:fld>
            <a:endParaRPr lang="en-US"/>
          </a:p>
        </p:txBody>
      </p:sp>
    </p:spTree>
    <p:extLst>
      <p:ext uri="{BB962C8B-B14F-4D97-AF65-F5344CB8AC3E}">
        <p14:creationId xmlns:p14="http://schemas.microsoft.com/office/powerpoint/2010/main" val="3003244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When we execute the </a:t>
            </a:r>
            <a:r>
              <a:rPr lang="en-US" sz="1200" b="0" i="0" kern="1200" dirty="0" err="1">
                <a:solidFill>
                  <a:schemeClr val="tx1"/>
                </a:solidFill>
                <a:effectLst/>
                <a:latin typeface="+mn-lt"/>
                <a:ea typeface="+mn-ea"/>
                <a:cs typeface="+mn-cs"/>
              </a:rPr>
              <a:t>catkin_make</a:t>
            </a:r>
            <a:r>
              <a:rPr lang="en-US" sz="1200" b="0" i="0" kern="1200" dirty="0">
                <a:solidFill>
                  <a:schemeClr val="tx1"/>
                </a:solidFill>
                <a:effectLst/>
                <a:latin typeface="+mn-lt"/>
                <a:ea typeface="+mn-ea"/>
                <a:cs typeface="+mn-cs"/>
              </a:rPr>
              <a:t> instruction, the compilation system will look for the package executable package one by one.</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10</a:t>
            </a:fld>
            <a:endParaRPr lang="en-US"/>
          </a:p>
        </p:txBody>
      </p:sp>
    </p:spTree>
    <p:extLst>
      <p:ext uri="{BB962C8B-B14F-4D97-AF65-F5344CB8AC3E}">
        <p14:creationId xmlns:p14="http://schemas.microsoft.com/office/powerpoint/2010/main" val="6983586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work</a:t>
            </a:r>
            <a:r>
              <a:rPr lang="en-US" baseline="0" dirty="0"/>
              <a:t> with multiple computers</a:t>
            </a:r>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13</a:t>
            </a:fld>
            <a:endParaRPr lang="en-US"/>
          </a:p>
        </p:txBody>
      </p:sp>
    </p:spTree>
    <p:extLst>
      <p:ext uri="{BB962C8B-B14F-4D97-AF65-F5344CB8AC3E}">
        <p14:creationId xmlns:p14="http://schemas.microsoft.com/office/powerpoint/2010/main" val="41209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14</a:t>
            </a:fld>
            <a:endParaRPr lang="en-US"/>
          </a:p>
        </p:txBody>
      </p:sp>
    </p:spTree>
    <p:extLst>
      <p:ext uri="{BB962C8B-B14F-4D97-AF65-F5344CB8AC3E}">
        <p14:creationId xmlns:p14="http://schemas.microsoft.com/office/powerpoint/2010/main" val="36327590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combined into a graph</a:t>
            </a: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Reduce code complexity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Better fault tolerance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Language agnostic</a:t>
            </a:r>
          </a:p>
          <a:p>
            <a:endParaRPr lang="en-US" dirty="0"/>
          </a:p>
        </p:txBody>
      </p:sp>
      <p:sp>
        <p:nvSpPr>
          <p:cNvPr id="4" name="Slide Number Placeholder 3"/>
          <p:cNvSpPr>
            <a:spLocks noGrp="1"/>
          </p:cNvSpPr>
          <p:nvPr>
            <p:ph type="sldNum" sz="quarter" idx="10"/>
          </p:nvPr>
        </p:nvSpPr>
        <p:spPr/>
        <p:txBody>
          <a:bodyPr/>
          <a:lstStyle/>
          <a:p>
            <a:fld id="{CDAE4680-6E9A-445B-9304-F7D1A27E0E47}" type="slidenum">
              <a:rPr lang="en-US" smtClean="0"/>
              <a:t>15</a:t>
            </a:fld>
            <a:endParaRPr lang="en-US"/>
          </a:p>
        </p:txBody>
      </p:sp>
    </p:spTree>
    <p:extLst>
      <p:ext uri="{BB962C8B-B14F-4D97-AF65-F5344CB8AC3E}">
        <p14:creationId xmlns:p14="http://schemas.microsoft.com/office/powerpoint/2010/main" val="831848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https://www.youtube.com/watch?v=BcjHyhV0kIs&amp;list=PLunhqkrRNRhYAffV8JDiFOatQXuU-NnxT&amp;index=2</a:t>
            </a:r>
          </a:p>
        </p:txBody>
      </p:sp>
      <p:sp>
        <p:nvSpPr>
          <p:cNvPr id="4" name="Slide Number Placeholder 3"/>
          <p:cNvSpPr>
            <a:spLocks noGrp="1"/>
          </p:cNvSpPr>
          <p:nvPr>
            <p:ph type="sldNum" sz="quarter" idx="5"/>
          </p:nvPr>
        </p:nvSpPr>
        <p:spPr/>
        <p:txBody>
          <a:bodyPr/>
          <a:lstStyle/>
          <a:p>
            <a:fld id="{CDAE4680-6E9A-445B-9304-F7D1A27E0E47}" type="slidenum">
              <a:rPr lang="en-US" smtClean="0"/>
              <a:t>32</a:t>
            </a:fld>
            <a:endParaRPr lang="en-US"/>
          </a:p>
        </p:txBody>
      </p:sp>
    </p:spTree>
    <p:extLst>
      <p:ext uri="{BB962C8B-B14F-4D97-AF65-F5344CB8AC3E}">
        <p14:creationId xmlns:p14="http://schemas.microsoft.com/office/powerpoint/2010/main" val="774463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3561BE-7EE5-473D-84A7-4C53642E76F3}" type="datetime1">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0F51FE-9C5E-464A-AC70-6B909B40C014}" type="datetime1">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620000" y="6501107"/>
            <a:ext cx="1066800" cy="329184"/>
          </a:xfrm>
        </p:spPr>
        <p:txBody>
          <a:bodyPr/>
          <a:lstStyle>
            <a:lvl1pPr>
              <a:defRPr>
                <a:solidFill>
                  <a:schemeClr val="accent5">
                    <a:lumMod val="75000"/>
                  </a:schemeClr>
                </a:solidFill>
              </a:defRPr>
            </a:lvl1pPr>
          </a:lstStyle>
          <a:p>
            <a:fld id="{3957FE44-DABC-424D-A234-74BB9410FF27}"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ED206D-CD87-417B-A3E9-8E7F517E463E}" type="datetime1">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D8F107-3B8C-4C3E-96B2-5FDE77B1A8A3}" type="datetime1">
              <a:rPr lang="en-US" smtClean="0"/>
              <a:t>5/7/2023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2B7A77-E7D0-4A81-9F27-235411449FDF}" type="datetime1">
              <a:rPr lang="en-US" smtClean="0"/>
              <a:t>5/7/2023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57FE44-DABC-424D-A234-74BB9410FF27}" type="slidenum">
              <a:rPr lang="en-US" smtClean="0"/>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D175E10-1A59-4CE8-9F8F-26909B2B45ED}" type="datetime1">
              <a:rPr lang="en-US" smtClean="0"/>
              <a:t>5/7/2023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7769CF-71D8-44A8-A43E-06A522466198}" type="datetime1">
              <a:rPr lang="en-US" smtClean="0"/>
              <a:t>5/7/2023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720A33-8193-44AB-9CBE-84B62B603B98}" type="datetime1">
              <a:rPr lang="en-US" smtClean="0"/>
              <a:t>5/7/2023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8572B2-C299-428F-9DB0-AF5E4D034999}" type="datetime1">
              <a:rPr lang="en-US" smtClean="0"/>
              <a:t>5/7/2023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DEECD9-E72D-423D-873E-C8701D4E51F3}" type="datetime1">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C3519C6-978E-42A3-A0DA-A23B7AC47044}" type="datetime1">
              <a:rPr lang="en-US" smtClean="0"/>
              <a:t>5/7/2023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57FE44-DABC-424D-A234-74BB9410FF2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938B7AF6-6F47-4FBA-B77D-1A1AB60E82CA}" type="datetime1">
              <a:rPr lang="en-US" smtClean="0"/>
              <a:t>5/7/2023</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6481315"/>
            <a:ext cx="1066800" cy="329184"/>
          </a:xfrm>
          <a:prstGeom prst="rect">
            <a:avLst/>
          </a:prstGeom>
        </p:spPr>
        <p:txBody>
          <a:bodyPr vert="horz" lIns="91440" tIns="45720" rIns="91440" bIns="45720" rtlCol="0" anchor="ctr"/>
          <a:lstStyle>
            <a:lvl1pPr algn="l">
              <a:defRPr sz="1400" b="1">
                <a:solidFill>
                  <a:schemeClr val="accent5">
                    <a:lumMod val="75000"/>
                  </a:schemeClr>
                </a:solidFill>
              </a:defRPr>
            </a:lvl1pPr>
          </a:lstStyle>
          <a:p>
            <a:fld id="{3957FE44-DABC-424D-A234-74BB9410FF27}"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google.com.vn/url?sa=i&amp;rct=j&amp;q=&amp;esrc=s&amp;source=images&amp;cd=&amp;cad=rja&amp;uact=8&amp;ved=0CAcQjRxqFQoTCOa4gpvXz8cCFU-ejgodsSsIRA&amp;url=http://spikeex.deviantart.com/art/Microchip-Tattoo-Design-1-42179858&amp;ei=31_iVaZNz7y6BLHXoKAE&amp;psig=AFQjCNF-y2BM98GH0MilH1ajH4XNM5xsRQ&amp;ust=1440985393503735"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hyperlink" Target="https://www.linkedin.com/in/keenanwyrobek/"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en.wikipedia.org/w/index.php?title=Eric_Berger_(engineer)&amp;action=edit&amp;redlink=1"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theconstructsim.com/history-ros/" TargetMode="External"/><Relationship Id="rId1" Type="http://schemas.openxmlformats.org/officeDocument/2006/relationships/slideLayout" Target="../slideLayouts/slideLayout2.xml"/><Relationship Id="rId4" Type="http://schemas.openxmlformats.org/officeDocument/2006/relationships/hyperlink" Target="read://https_www.businessinsider.com/?url=https://www.businessinsider.com/a-look-back-at-willow-garage-2016-2"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iki.ros.org/ROS/Tutorials" TargetMode="External"/><Relationship Id="rId2" Type="http://schemas.openxmlformats.org/officeDocument/2006/relationships/hyperlink" Target="http://wiki.ros.org/" TargetMode="External"/><Relationship Id="rId1" Type="http://schemas.openxmlformats.org/officeDocument/2006/relationships/slideLayout" Target="../slideLayouts/slideLayout2.xml"/><Relationship Id="rId6" Type="http://schemas.openxmlformats.org/officeDocument/2006/relationships/hyperlink" Target="https://bit.ly/3fsiNjJ" TargetMode="External"/><Relationship Id="rId5" Type="http://schemas.openxmlformats.org/officeDocument/2006/relationships/hyperlink" Target="https://bit.ly/39ahoNN" TargetMode="External"/><Relationship Id="rId4" Type="http://schemas.openxmlformats.org/officeDocument/2006/relationships/hyperlink" Target="http://wiki.ros.org/rospy/Tutorial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iki.ros.org/catkin/CMakeLists.txt"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bJB9tv4ThV4"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wiki.ros.org/catkin/CMakeLists.tx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wiki.ros.org/catkin/CMakeLists.tx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wiki.ros.org/catkin/CMakeLists.txt"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wiki.ros.org/catkin/CMakeLists.tx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iki.ros.org/catkin/CMakeLists.txt"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wiki.ros.org/catkin/CMakeLists.txt" TargetMode="Externa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wiki.ros.org/catkin/CMakeLists.txt" TargetMode="External"/><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hyperlink" Target="http://wiki.ros.org/catkin/CMakeLists.txt" TargetMode="External"/><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gazebosim.org/"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img02.deviantart.net/aaac/i/2006/302/3/0/microchip_tattoo_design_1_by_spikeex.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08293" y="3505199"/>
            <a:ext cx="3322748" cy="332274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br>
              <a:rPr lang="en-US" dirty="0"/>
            </a:br>
            <a:br>
              <a:rPr lang="en-US" b="1" dirty="0"/>
            </a:br>
            <a:r>
              <a:rPr lang="en-US" b="1" dirty="0"/>
              <a:t>Robot Operating system</a:t>
            </a:r>
          </a:p>
        </p:txBody>
      </p:sp>
      <p:sp>
        <p:nvSpPr>
          <p:cNvPr id="3" name="Subtitle 2"/>
          <p:cNvSpPr>
            <a:spLocks noGrp="1"/>
          </p:cNvSpPr>
          <p:nvPr>
            <p:ph type="subTitle" idx="1"/>
          </p:nvPr>
        </p:nvSpPr>
        <p:spPr/>
        <p:txBody>
          <a:bodyPr>
            <a:normAutofit/>
          </a:bodyPr>
          <a:lstStyle/>
          <a:p>
            <a:r>
              <a:rPr lang="en-US" dirty="0"/>
              <a:t>Lecturer: Dr. Bui Ha Duc</a:t>
            </a:r>
          </a:p>
          <a:p>
            <a:r>
              <a:rPr lang="en-US" dirty="0"/>
              <a:t>Dept. of Mechatronics</a:t>
            </a:r>
          </a:p>
          <a:p>
            <a:r>
              <a:rPr lang="en-US" dirty="0"/>
              <a:t>Email: ducbh@hcmute.edu.vn</a:t>
            </a:r>
          </a:p>
        </p:txBody>
      </p:sp>
      <p:sp>
        <p:nvSpPr>
          <p:cNvPr id="4" name="Slide Number Placeholder 3"/>
          <p:cNvSpPr>
            <a:spLocks noGrp="1"/>
          </p:cNvSpPr>
          <p:nvPr>
            <p:ph type="sldNum" sz="quarter" idx="12"/>
          </p:nvPr>
        </p:nvSpPr>
        <p:spPr>
          <a:xfrm>
            <a:off x="7620000" y="6400800"/>
            <a:ext cx="1066800" cy="329184"/>
          </a:xfrm>
        </p:spPr>
        <p:txBody>
          <a:bodyPr/>
          <a:lstStyle/>
          <a:p>
            <a:fld id="{3957FE44-DABC-424D-A234-74BB9410FF27}" type="slidenum">
              <a:rPr lang="en-US" smtClean="0"/>
              <a:t>1</a:t>
            </a:fld>
            <a:endParaRPr lang="en-US" dirty="0"/>
          </a:p>
        </p:txBody>
      </p:sp>
    </p:spTree>
    <p:extLst>
      <p:ext uri="{BB962C8B-B14F-4D97-AF65-F5344CB8AC3E}">
        <p14:creationId xmlns:p14="http://schemas.microsoft.com/office/powerpoint/2010/main" val="3616535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p>
        </p:txBody>
      </p:sp>
      <p:sp>
        <p:nvSpPr>
          <p:cNvPr id="3" name="Content Placeholder 2"/>
          <p:cNvSpPr>
            <a:spLocks noGrp="1"/>
          </p:cNvSpPr>
          <p:nvPr>
            <p:ph idx="1"/>
          </p:nvPr>
        </p:nvSpPr>
        <p:spPr/>
        <p:txBody>
          <a:bodyPr/>
          <a:lstStyle/>
          <a:p>
            <a:r>
              <a:rPr lang="en-US" dirty="0"/>
              <a:t>Introduction to ROS</a:t>
            </a:r>
          </a:p>
          <a:p>
            <a:r>
              <a:rPr lang="en-US" dirty="0"/>
              <a:t>ROS architecture &amp; philosophy</a:t>
            </a:r>
          </a:p>
          <a:p>
            <a:pPr lvl="1"/>
            <a:r>
              <a:rPr lang="en-US" dirty="0"/>
              <a:t>Master, Nodes, Topic</a:t>
            </a:r>
          </a:p>
          <a:p>
            <a:pPr lvl="1"/>
            <a:r>
              <a:rPr lang="en-US" dirty="0"/>
              <a:t>Command</a:t>
            </a:r>
          </a:p>
          <a:p>
            <a:pPr lvl="1"/>
            <a:r>
              <a:rPr lang="en-US" dirty="0"/>
              <a:t>Workspace</a:t>
            </a:r>
          </a:p>
          <a:p>
            <a:r>
              <a:rPr lang="en-US" dirty="0"/>
              <a:t>ROS Services</a:t>
            </a:r>
          </a:p>
          <a:p>
            <a:pPr lvl="1"/>
            <a:r>
              <a:rPr lang="en-US" dirty="0"/>
              <a:t>Subscriber and publisher</a:t>
            </a:r>
          </a:p>
          <a:p>
            <a:pPr lvl="1"/>
            <a:r>
              <a:rPr lang="en-US" dirty="0"/>
              <a:t>Visualization </a:t>
            </a:r>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2</a:t>
            </a:fld>
            <a:endParaRPr lang="en-US" dirty="0"/>
          </a:p>
        </p:txBody>
      </p:sp>
    </p:spTree>
    <p:extLst>
      <p:ext uri="{BB962C8B-B14F-4D97-AF65-F5344CB8AC3E}">
        <p14:creationId xmlns:p14="http://schemas.microsoft.com/office/powerpoint/2010/main" val="378954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p:txBody>
          <a:bodyPr/>
          <a:lstStyle/>
          <a:p>
            <a:r>
              <a:rPr lang="en-US" dirty="0"/>
              <a:t>ROS is an open source framework for robot control</a:t>
            </a:r>
          </a:p>
          <a:p>
            <a:r>
              <a:rPr lang="en-US" dirty="0"/>
              <a:t>ROS serve as a common software platform for people who are building and using robot</a:t>
            </a:r>
          </a:p>
          <a:p>
            <a:pPr lvl="1"/>
            <a:r>
              <a:rPr lang="en-US" dirty="0"/>
              <a:t>Share code and ideas</a:t>
            </a:r>
          </a:p>
          <a:p>
            <a:pPr lvl="1"/>
            <a:r>
              <a:rPr lang="en-US" dirty="0"/>
              <a:t>Contain &gt;2000 software package </a:t>
            </a:r>
            <a:r>
              <a:rPr lang="en-US" dirty="0">
                <a:sym typeface="Wingdings" panose="05000000000000000000" pitchFamily="2" charset="2"/>
              </a:rPr>
              <a:t> </a:t>
            </a:r>
            <a:r>
              <a:rPr lang="en-US" b="1" dirty="0">
                <a:solidFill>
                  <a:srgbClr val="FF0000"/>
                </a:solidFill>
                <a:sym typeface="Wingdings" panose="05000000000000000000" pitchFamily="2" charset="2"/>
              </a:rPr>
              <a:t>save time</a:t>
            </a:r>
          </a:p>
        </p:txBody>
      </p:sp>
      <p:sp>
        <p:nvSpPr>
          <p:cNvPr id="4" name="Slide Number Placeholder 3"/>
          <p:cNvSpPr>
            <a:spLocks noGrp="1"/>
          </p:cNvSpPr>
          <p:nvPr>
            <p:ph type="sldNum" sz="quarter" idx="12"/>
          </p:nvPr>
        </p:nvSpPr>
        <p:spPr/>
        <p:txBody>
          <a:bodyPr/>
          <a:lstStyle/>
          <a:p>
            <a:fld id="{3957FE44-DABC-424D-A234-74BB9410FF27}" type="slidenum">
              <a:rPr lang="en-US" smtClean="0"/>
              <a:pPr/>
              <a:t>3</a:t>
            </a:fld>
            <a:endParaRPr lang="en-US" dirty="0"/>
          </a:p>
        </p:txBody>
      </p:sp>
      <p:pic>
        <p:nvPicPr>
          <p:cNvPr id="1026" name="Picture 2" descr="The Whats and Whys of ROS(Robot Operating System) - Parth Chhabra ...">
            <a:extLst>
              <a:ext uri="{FF2B5EF4-FFF2-40B4-BE49-F238E27FC236}">
                <a16:creationId xmlns:a16="http://schemas.microsoft.com/office/drawing/2014/main" id="{665E76A5-66CD-47E2-8297-8FD8C1444A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43600" y="683163"/>
            <a:ext cx="2847975" cy="75616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Diagram 13">
            <a:extLst>
              <a:ext uri="{FF2B5EF4-FFF2-40B4-BE49-F238E27FC236}">
                <a16:creationId xmlns:a16="http://schemas.microsoft.com/office/drawing/2014/main" id="{276DA807-56A5-4EC9-A58F-A1AAA890EB9F}"/>
              </a:ext>
            </a:extLst>
          </p:cNvPr>
          <p:cNvGraphicFramePr/>
          <p:nvPr>
            <p:extLst>
              <p:ext uri="{D42A27DB-BD31-4B8C-83A1-F6EECF244321}">
                <p14:modId xmlns:p14="http://schemas.microsoft.com/office/powerpoint/2010/main" val="527063683"/>
              </p:ext>
            </p:extLst>
          </p:nvPr>
        </p:nvGraphicFramePr>
        <p:xfrm>
          <a:off x="875109" y="3721100"/>
          <a:ext cx="7393782" cy="3073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p:cNvSpPr txBox="1"/>
          <p:nvPr/>
        </p:nvSpPr>
        <p:spPr>
          <a:xfrm>
            <a:off x="6553200" y="3721100"/>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Process management</a:t>
            </a:r>
          </a:p>
          <a:p>
            <a:pPr marL="285750" indent="-285750">
              <a:buFont typeface="Arial" panose="020B0604020202020204" pitchFamily="34" charset="0"/>
              <a:buChar char="•"/>
            </a:pPr>
            <a:r>
              <a:rPr lang="en-US" sz="1400" dirty="0"/>
              <a:t>Inter-process communication</a:t>
            </a:r>
          </a:p>
          <a:p>
            <a:pPr marL="285750" indent="-285750">
              <a:buFont typeface="Arial" panose="020B0604020202020204" pitchFamily="34" charset="0"/>
              <a:buChar char="•"/>
            </a:pPr>
            <a:r>
              <a:rPr lang="en-US" sz="1400" dirty="0"/>
              <a:t>Device drivers</a:t>
            </a:r>
          </a:p>
        </p:txBody>
      </p:sp>
      <p:sp>
        <p:nvSpPr>
          <p:cNvPr id="8" name="TextBox 7"/>
          <p:cNvSpPr txBox="1"/>
          <p:nvPr/>
        </p:nvSpPr>
        <p:spPr>
          <a:xfrm>
            <a:off x="6553200" y="5681643"/>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Control</a:t>
            </a:r>
          </a:p>
          <a:p>
            <a:pPr marL="285750" indent="-285750">
              <a:buFont typeface="Arial" panose="020B0604020202020204" pitchFamily="34" charset="0"/>
              <a:buChar char="•"/>
            </a:pPr>
            <a:r>
              <a:rPr lang="en-US" sz="1400" dirty="0"/>
              <a:t>Planning</a:t>
            </a:r>
          </a:p>
          <a:p>
            <a:pPr marL="285750" indent="-285750">
              <a:buFont typeface="Arial" panose="020B0604020202020204" pitchFamily="34" charset="0"/>
              <a:buChar char="•"/>
            </a:pPr>
            <a:r>
              <a:rPr lang="en-US" sz="1400" dirty="0"/>
              <a:t>Mapping</a:t>
            </a:r>
          </a:p>
          <a:p>
            <a:pPr marL="285750" indent="-285750">
              <a:buFont typeface="Arial" panose="020B0604020202020204" pitchFamily="34" charset="0"/>
              <a:buChar char="•"/>
            </a:pPr>
            <a:r>
              <a:rPr lang="en-US" sz="1400" dirty="0"/>
              <a:t>Perception</a:t>
            </a:r>
          </a:p>
        </p:txBody>
      </p:sp>
      <p:sp>
        <p:nvSpPr>
          <p:cNvPr id="9" name="TextBox 8"/>
          <p:cNvSpPr txBox="1"/>
          <p:nvPr/>
        </p:nvSpPr>
        <p:spPr>
          <a:xfrm>
            <a:off x="381000" y="5825712"/>
            <a:ext cx="2438400" cy="954107"/>
          </a:xfrm>
          <a:prstGeom prst="rect">
            <a:avLst/>
          </a:prstGeom>
          <a:noFill/>
        </p:spPr>
        <p:txBody>
          <a:bodyPr wrap="square" rtlCol="0">
            <a:spAutoFit/>
          </a:bodyPr>
          <a:lstStyle/>
          <a:p>
            <a:pPr marL="285750" indent="-285750">
              <a:buFont typeface="Arial" panose="020B0604020202020204" pitchFamily="34" charset="0"/>
              <a:buChar char="•"/>
            </a:pPr>
            <a:r>
              <a:rPr lang="en-US" sz="1400" dirty="0"/>
              <a:t>Package organization</a:t>
            </a:r>
          </a:p>
          <a:p>
            <a:pPr marL="285750" indent="-285750">
              <a:buFont typeface="Arial" panose="020B0604020202020204" pitchFamily="34" charset="0"/>
              <a:buChar char="•"/>
            </a:pPr>
            <a:r>
              <a:rPr lang="en-US" sz="1400" dirty="0"/>
              <a:t>Software distribution</a:t>
            </a:r>
          </a:p>
          <a:p>
            <a:pPr marL="285750" indent="-285750">
              <a:buFont typeface="Arial" panose="020B0604020202020204" pitchFamily="34" charset="0"/>
              <a:buChar char="•"/>
            </a:pPr>
            <a:r>
              <a:rPr lang="en-US" sz="1400" dirty="0"/>
              <a:t>Documentation</a:t>
            </a:r>
          </a:p>
          <a:p>
            <a:pPr marL="285750" indent="-285750">
              <a:buFont typeface="Arial" panose="020B0604020202020204" pitchFamily="34" charset="0"/>
              <a:buChar char="•"/>
            </a:pPr>
            <a:r>
              <a:rPr lang="en-US" sz="1400" dirty="0"/>
              <a:t>Tutorial</a:t>
            </a:r>
          </a:p>
        </p:txBody>
      </p:sp>
      <p:sp>
        <p:nvSpPr>
          <p:cNvPr id="10" name="TextBox 9"/>
          <p:cNvSpPr txBox="1"/>
          <p:nvPr/>
        </p:nvSpPr>
        <p:spPr>
          <a:xfrm>
            <a:off x="304800" y="3734266"/>
            <a:ext cx="2438400"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t>Simulation</a:t>
            </a:r>
          </a:p>
          <a:p>
            <a:pPr marL="285750" indent="-285750">
              <a:buFont typeface="Arial" panose="020B0604020202020204" pitchFamily="34" charset="0"/>
              <a:buChar char="•"/>
            </a:pPr>
            <a:r>
              <a:rPr lang="en-US" sz="1400" dirty="0"/>
              <a:t>Graphic user interface</a:t>
            </a:r>
          </a:p>
          <a:p>
            <a:pPr marL="285750" indent="-285750">
              <a:buFont typeface="Arial" panose="020B0604020202020204" pitchFamily="34" charset="0"/>
              <a:buChar char="•"/>
            </a:pPr>
            <a:r>
              <a:rPr lang="en-US" sz="1400" dirty="0"/>
              <a:t>Data logging </a:t>
            </a:r>
          </a:p>
        </p:txBody>
      </p:sp>
    </p:spTree>
    <p:extLst>
      <p:ext uri="{BB962C8B-B14F-4D97-AF65-F5344CB8AC3E}">
        <p14:creationId xmlns:p14="http://schemas.microsoft.com/office/powerpoint/2010/main" val="417433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700C8-ED9C-4A11-B65F-64B8041D0AAC}"/>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6A31EA42-6E76-449F-8720-9D3DB7FEC238}"/>
              </a:ext>
            </a:extLst>
          </p:cNvPr>
          <p:cNvSpPr>
            <a:spLocks noGrp="1"/>
          </p:cNvSpPr>
          <p:nvPr>
            <p:ph idx="1"/>
          </p:nvPr>
        </p:nvSpPr>
        <p:spPr/>
        <p:txBody>
          <a:bodyPr/>
          <a:lstStyle/>
          <a:p>
            <a:r>
              <a:rPr lang="en-US" dirty="0"/>
              <a:t>Why ROS?</a:t>
            </a:r>
          </a:p>
        </p:txBody>
      </p:sp>
      <p:sp>
        <p:nvSpPr>
          <p:cNvPr id="4" name="Slide Number Placeholder 3">
            <a:extLst>
              <a:ext uri="{FF2B5EF4-FFF2-40B4-BE49-F238E27FC236}">
                <a16:creationId xmlns:a16="http://schemas.microsoft.com/office/drawing/2014/main" id="{7C0F7553-3977-45B7-B797-E1B8B63DECF8}"/>
              </a:ext>
            </a:extLst>
          </p:cNvPr>
          <p:cNvSpPr>
            <a:spLocks noGrp="1"/>
          </p:cNvSpPr>
          <p:nvPr>
            <p:ph type="sldNum" sz="quarter" idx="12"/>
          </p:nvPr>
        </p:nvSpPr>
        <p:spPr/>
        <p:txBody>
          <a:bodyPr/>
          <a:lstStyle/>
          <a:p>
            <a:fld id="{3957FE44-DABC-424D-A234-74BB9410FF27}" type="slidenum">
              <a:rPr lang="en-US" smtClean="0"/>
              <a:pPr/>
              <a:t>4</a:t>
            </a:fld>
            <a:endParaRPr lang="en-US" dirty="0"/>
          </a:p>
        </p:txBody>
      </p:sp>
      <p:pic>
        <p:nvPicPr>
          <p:cNvPr id="2050" name="Picture 2" descr="robotics-reinvent-wheel-History-ROS">
            <a:extLst>
              <a:ext uri="{FF2B5EF4-FFF2-40B4-BE49-F238E27FC236}">
                <a16:creationId xmlns:a16="http://schemas.microsoft.com/office/drawing/2014/main" id="{1D5738B0-02F6-4D62-8B7F-79B822F4AA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676400"/>
            <a:ext cx="5638800" cy="40636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61012F-D268-4DCC-A5D3-1C6AADB6D172}"/>
              </a:ext>
            </a:extLst>
          </p:cNvPr>
          <p:cNvSpPr txBox="1"/>
          <p:nvPr/>
        </p:nvSpPr>
        <p:spPr>
          <a:xfrm>
            <a:off x="2895600" y="5816257"/>
            <a:ext cx="5103257" cy="369332"/>
          </a:xfrm>
          <a:prstGeom prst="rect">
            <a:avLst/>
          </a:prstGeom>
          <a:noFill/>
        </p:spPr>
        <p:txBody>
          <a:bodyPr wrap="none" rtlCol="0">
            <a:spAutoFit/>
          </a:bodyPr>
          <a:lstStyle/>
          <a:p>
            <a:r>
              <a:rPr lang="en-US" i="1" dirty="0"/>
              <a:t>(Source: </a:t>
            </a:r>
            <a:r>
              <a:rPr lang="en-US" b="0" i="1" dirty="0">
                <a:solidFill>
                  <a:srgbClr val="666666"/>
                </a:solidFill>
                <a:effectLst/>
                <a:latin typeface="Open Sans"/>
              </a:rPr>
              <a:t> </a:t>
            </a:r>
            <a:r>
              <a:rPr lang="en-US" b="0" i="1" u="none" strike="noStrike" dirty="0">
                <a:solidFill>
                  <a:srgbClr val="0070C0"/>
                </a:solidFill>
                <a:effectLst/>
                <a:latin typeface="Open Sans"/>
                <a:hlinkClick r:id="rId3">
                  <a:extLst>
                    <a:ext uri="{A12FA001-AC4F-418D-AE19-62706E023703}">
                      <ahyp:hlinkClr xmlns:ahyp="http://schemas.microsoft.com/office/drawing/2018/hyperlinkcolor" val="tx"/>
                    </a:ext>
                  </a:extLst>
                </a:hlinkClick>
              </a:rPr>
              <a:t>Keenan </a:t>
            </a:r>
            <a:r>
              <a:rPr lang="en-US" b="0" i="1" u="none" strike="noStrike" dirty="0" err="1">
                <a:solidFill>
                  <a:srgbClr val="0070C0"/>
                </a:solidFill>
                <a:effectLst/>
                <a:latin typeface="Open Sans"/>
                <a:hlinkClick r:id="rId3">
                  <a:extLst>
                    <a:ext uri="{A12FA001-AC4F-418D-AE19-62706E023703}">
                      <ahyp:hlinkClr xmlns:ahyp="http://schemas.microsoft.com/office/drawing/2018/hyperlinkcolor" val="tx"/>
                    </a:ext>
                  </a:extLst>
                </a:hlinkClick>
              </a:rPr>
              <a:t>Wyrobek</a:t>
            </a:r>
            <a:r>
              <a:rPr lang="en-US" b="0" i="1" dirty="0">
                <a:solidFill>
                  <a:srgbClr val="0070C0"/>
                </a:solidFill>
                <a:effectLst/>
                <a:latin typeface="Open Sans"/>
              </a:rPr>
              <a:t> </a:t>
            </a:r>
            <a:r>
              <a:rPr lang="en-US" b="0" i="1" dirty="0">
                <a:effectLst/>
                <a:latin typeface="Open Sans"/>
              </a:rPr>
              <a:t>and </a:t>
            </a:r>
            <a:r>
              <a:rPr lang="en-US" b="0" i="1" u="none" strike="noStrike" dirty="0">
                <a:solidFill>
                  <a:srgbClr val="0070C0"/>
                </a:solidFill>
                <a:effectLst/>
                <a:latin typeface="Open Sans"/>
                <a:hlinkClick r:id="rId4" tooltip="Eric Berger (engineer) (page does not exist)">
                  <a:extLst>
                    <a:ext uri="{A12FA001-AC4F-418D-AE19-62706E023703}">
                      <ahyp:hlinkClr xmlns:ahyp="http://schemas.microsoft.com/office/drawing/2018/hyperlinkcolor" val="tx"/>
                    </a:ext>
                  </a:extLst>
                </a:hlinkClick>
              </a:rPr>
              <a:t>Eric Berger</a:t>
            </a:r>
            <a:r>
              <a:rPr lang="en-US" b="0" i="1" u="none" strike="noStrike" dirty="0">
                <a:solidFill>
                  <a:srgbClr val="0070C0"/>
                </a:solidFill>
                <a:effectLst/>
                <a:latin typeface="Open Sans"/>
              </a:rPr>
              <a:t> </a:t>
            </a:r>
            <a:r>
              <a:rPr lang="en-US" b="0" i="1" u="none" strike="noStrike" dirty="0">
                <a:effectLst/>
                <a:latin typeface="Open Sans"/>
              </a:rPr>
              <a:t>slide)</a:t>
            </a:r>
            <a:endParaRPr lang="en-US" i="1" dirty="0"/>
          </a:p>
        </p:txBody>
      </p:sp>
    </p:spTree>
    <p:extLst>
      <p:ext uri="{BB962C8B-B14F-4D97-AF65-F5344CB8AC3E}">
        <p14:creationId xmlns:p14="http://schemas.microsoft.com/office/powerpoint/2010/main" val="2561372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8B660-3AEF-471F-8783-98105EE1F704}"/>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78BD492A-647E-403A-AAB1-5A571D908CA1}"/>
              </a:ext>
            </a:extLst>
          </p:cNvPr>
          <p:cNvSpPr>
            <a:spLocks noGrp="1"/>
          </p:cNvSpPr>
          <p:nvPr>
            <p:ph idx="1"/>
          </p:nvPr>
        </p:nvSpPr>
        <p:spPr/>
        <p:txBody>
          <a:bodyPr/>
          <a:lstStyle/>
          <a:p>
            <a:r>
              <a:rPr lang="en-US" dirty="0"/>
              <a:t>History of ROS </a:t>
            </a:r>
            <a:r>
              <a:rPr lang="en-US" sz="1800" i="1" dirty="0"/>
              <a:t>(</a:t>
            </a:r>
            <a:r>
              <a:rPr lang="en-US" sz="1800" i="1" dirty="0">
                <a:hlinkClick r:id="rId2"/>
              </a:rPr>
              <a:t>https://www.theconstructsim.com/history-ros/</a:t>
            </a:r>
            <a:r>
              <a:rPr lang="en-US" sz="1800" i="1" dirty="0"/>
              <a:t>)</a:t>
            </a:r>
          </a:p>
          <a:p>
            <a:r>
              <a:rPr lang="en-US" dirty="0"/>
              <a:t>Initiate by </a:t>
            </a:r>
            <a:r>
              <a:rPr lang="en-US" dirty="0" err="1"/>
              <a:t>Standford</a:t>
            </a:r>
            <a:r>
              <a:rPr lang="en-US" dirty="0"/>
              <a:t> University in May-2007</a:t>
            </a:r>
          </a:p>
          <a:p>
            <a:r>
              <a:rPr lang="en-US" dirty="0"/>
              <a:t>In Nov-2007, Willow Garage take the lead</a:t>
            </a:r>
          </a:p>
          <a:p>
            <a:endParaRPr lang="en-US" dirty="0"/>
          </a:p>
          <a:p>
            <a:endParaRPr lang="en-US" dirty="0"/>
          </a:p>
          <a:p>
            <a:endParaRPr lang="en-US" dirty="0"/>
          </a:p>
          <a:p>
            <a:endParaRPr lang="en-US" dirty="0"/>
          </a:p>
          <a:p>
            <a:endParaRPr lang="en-US" dirty="0"/>
          </a:p>
          <a:p>
            <a:endParaRPr lang="en-US" dirty="0"/>
          </a:p>
          <a:p>
            <a:r>
              <a:rPr lang="en-US" dirty="0"/>
              <a:t>After the close of Willow Garage in 2014, ROS becomes an open source framework</a:t>
            </a:r>
          </a:p>
        </p:txBody>
      </p:sp>
      <p:sp>
        <p:nvSpPr>
          <p:cNvPr id="4" name="Slide Number Placeholder 3">
            <a:extLst>
              <a:ext uri="{FF2B5EF4-FFF2-40B4-BE49-F238E27FC236}">
                <a16:creationId xmlns:a16="http://schemas.microsoft.com/office/drawing/2014/main" id="{EA7FC039-EA44-46BD-A20C-DF1CFE85FDE9}"/>
              </a:ext>
            </a:extLst>
          </p:cNvPr>
          <p:cNvSpPr>
            <a:spLocks noGrp="1"/>
          </p:cNvSpPr>
          <p:nvPr>
            <p:ph type="sldNum" sz="quarter" idx="12"/>
          </p:nvPr>
        </p:nvSpPr>
        <p:spPr/>
        <p:txBody>
          <a:bodyPr/>
          <a:lstStyle/>
          <a:p>
            <a:fld id="{3957FE44-DABC-424D-A234-74BB9410FF27}" type="slidenum">
              <a:rPr lang="en-US" smtClean="0"/>
              <a:pPr/>
              <a:t>5</a:t>
            </a:fld>
            <a:endParaRPr lang="en-US" dirty="0"/>
          </a:p>
        </p:txBody>
      </p:sp>
      <p:pic>
        <p:nvPicPr>
          <p:cNvPr id="3080" name="Picture 8" descr="ros-evolution-repo-packages-History-ROS">
            <a:extLst>
              <a:ext uri="{FF2B5EF4-FFF2-40B4-BE49-F238E27FC236}">
                <a16:creationId xmlns:a16="http://schemas.microsoft.com/office/drawing/2014/main" id="{C78F2D2A-36E9-4500-9E18-2BE0F2A15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971800"/>
            <a:ext cx="5562600" cy="2118810"/>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46113F87-4D6A-4D88-B2C0-79669F6CC7AA}"/>
              </a:ext>
            </a:extLst>
          </p:cNvPr>
          <p:cNvSpPr txBox="1"/>
          <p:nvPr/>
        </p:nvSpPr>
        <p:spPr>
          <a:xfrm>
            <a:off x="685800" y="6331405"/>
            <a:ext cx="8077200" cy="261610"/>
          </a:xfrm>
          <a:prstGeom prst="rect">
            <a:avLst/>
          </a:prstGeom>
          <a:noFill/>
        </p:spPr>
        <p:txBody>
          <a:bodyPr wrap="square">
            <a:spAutoFit/>
          </a:bodyPr>
          <a:lstStyle/>
          <a:p>
            <a:r>
              <a:rPr lang="en-US" sz="1100" i="1" dirty="0">
                <a:hlinkClick r:id="rId4"/>
              </a:rPr>
              <a:t>https_www.businessinsider.com/?url=https%3A%2F%2Fwww.businessinsider.com%2Fa-look-back-at-willow-garage-2016-2</a:t>
            </a:r>
            <a:endParaRPr lang="en-US" sz="1100" i="1" dirty="0"/>
          </a:p>
        </p:txBody>
      </p:sp>
    </p:spTree>
    <p:extLst>
      <p:ext uri="{BB962C8B-B14F-4D97-AF65-F5344CB8AC3E}">
        <p14:creationId xmlns:p14="http://schemas.microsoft.com/office/powerpoint/2010/main" val="15403509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E559A-2A6A-46DF-A607-21FBF6C1BAB9}"/>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101B8524-C5DD-4056-A820-410945FEA08B}"/>
              </a:ext>
            </a:extLst>
          </p:cNvPr>
          <p:cNvSpPr>
            <a:spLocks noGrp="1"/>
          </p:cNvSpPr>
          <p:nvPr>
            <p:ph idx="1"/>
          </p:nvPr>
        </p:nvSpPr>
        <p:spPr/>
        <p:txBody>
          <a:bodyPr/>
          <a:lstStyle/>
          <a:p>
            <a:r>
              <a:rPr lang="en-US" dirty="0"/>
              <a:t>Website:</a:t>
            </a:r>
          </a:p>
          <a:p>
            <a:pPr marL="0" indent="0">
              <a:buNone/>
            </a:pPr>
            <a:r>
              <a:rPr lang="en-US" dirty="0"/>
              <a:t>	</a:t>
            </a:r>
            <a:r>
              <a:rPr lang="en-US" dirty="0">
                <a:hlinkClick r:id="rId2"/>
              </a:rPr>
              <a:t>http://wiki.ros.org/</a:t>
            </a:r>
            <a:endParaRPr lang="en-US" dirty="0"/>
          </a:p>
          <a:p>
            <a:r>
              <a:rPr lang="en-US" dirty="0"/>
              <a:t>ROS tutorial:</a:t>
            </a:r>
          </a:p>
          <a:p>
            <a:pPr lvl="1"/>
            <a:r>
              <a:rPr lang="en-US" dirty="0"/>
              <a:t>General tutorials: </a:t>
            </a:r>
            <a:r>
              <a:rPr lang="en-US" dirty="0">
                <a:hlinkClick r:id="rId3"/>
              </a:rPr>
              <a:t>http://wiki.ros.org/ROS/Tutorials</a:t>
            </a:r>
            <a:endParaRPr lang="en-US" dirty="0"/>
          </a:p>
          <a:p>
            <a:pPr lvl="1"/>
            <a:r>
              <a:rPr lang="en-US" dirty="0"/>
              <a:t>Tutorials for python: </a:t>
            </a:r>
            <a:r>
              <a:rPr lang="en-US" dirty="0">
                <a:hlinkClick r:id="rId4"/>
              </a:rPr>
              <a:t>http://wiki.ros.org/rospy/Tutorials</a:t>
            </a:r>
            <a:endParaRPr lang="en-US" dirty="0"/>
          </a:p>
          <a:p>
            <a:pPr lvl="1"/>
            <a:r>
              <a:rPr lang="en-US" dirty="0"/>
              <a:t>Free course:  </a:t>
            </a:r>
            <a:r>
              <a:rPr lang="en-US" dirty="0">
                <a:hlinkClick r:id="rId5"/>
              </a:rPr>
              <a:t>https://bit.ly/39ahoNN</a:t>
            </a:r>
            <a:endParaRPr lang="en-US" dirty="0"/>
          </a:p>
          <a:p>
            <a:pPr marL="274320" lvl="1" indent="0">
              <a:buNone/>
            </a:pPr>
            <a:r>
              <a:rPr lang="en-US" dirty="0"/>
              <a:t>		   </a:t>
            </a:r>
            <a:r>
              <a:rPr lang="en-US" dirty="0">
                <a:hlinkClick r:id="rId6"/>
              </a:rPr>
              <a:t>https://bit.ly/3fsiNjJ</a:t>
            </a:r>
            <a:endParaRPr lang="en-US" dirty="0"/>
          </a:p>
          <a:p>
            <a:r>
              <a:rPr lang="en-US" dirty="0" err="1"/>
              <a:t>Ebooks</a:t>
            </a:r>
            <a:r>
              <a:rPr lang="en-US" dirty="0"/>
              <a:t>:</a:t>
            </a:r>
          </a:p>
          <a:p>
            <a:pPr lvl="1"/>
            <a:r>
              <a:rPr lang="en-US" i="1" dirty="0"/>
              <a:t>Programming Robots with ROS</a:t>
            </a:r>
            <a:r>
              <a:rPr lang="en-US" dirty="0"/>
              <a:t>, 1st Edition. by Morgan Quigley, Brian </a:t>
            </a:r>
            <a:r>
              <a:rPr lang="en-US" dirty="0" err="1"/>
              <a:t>Gerkey</a:t>
            </a:r>
            <a:r>
              <a:rPr lang="en-US" dirty="0"/>
              <a:t>, William D. Smart</a:t>
            </a:r>
          </a:p>
          <a:p>
            <a:pPr marL="0" indent="0">
              <a:buNone/>
            </a:pPr>
            <a:endParaRPr lang="en-US" dirty="0"/>
          </a:p>
        </p:txBody>
      </p:sp>
      <p:sp>
        <p:nvSpPr>
          <p:cNvPr id="4" name="Slide Number Placeholder 3">
            <a:extLst>
              <a:ext uri="{FF2B5EF4-FFF2-40B4-BE49-F238E27FC236}">
                <a16:creationId xmlns:a16="http://schemas.microsoft.com/office/drawing/2014/main" id="{6FEA7334-BC8C-4053-9704-F67DD248B6F2}"/>
              </a:ext>
            </a:extLst>
          </p:cNvPr>
          <p:cNvSpPr>
            <a:spLocks noGrp="1"/>
          </p:cNvSpPr>
          <p:nvPr>
            <p:ph type="sldNum" sz="quarter" idx="12"/>
          </p:nvPr>
        </p:nvSpPr>
        <p:spPr/>
        <p:txBody>
          <a:bodyPr/>
          <a:lstStyle/>
          <a:p>
            <a:fld id="{3957FE44-DABC-424D-A234-74BB9410FF27}" type="slidenum">
              <a:rPr lang="en-US" smtClean="0"/>
              <a:pPr/>
              <a:t>6</a:t>
            </a:fld>
            <a:endParaRPr lang="en-US" dirty="0"/>
          </a:p>
        </p:txBody>
      </p:sp>
    </p:spTree>
    <p:extLst>
      <p:ext uri="{BB962C8B-B14F-4D97-AF65-F5344CB8AC3E}">
        <p14:creationId xmlns:p14="http://schemas.microsoft.com/office/powerpoint/2010/main" val="3609057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ROS philosophy</a:t>
            </a:r>
          </a:p>
        </p:txBody>
      </p:sp>
      <p:sp>
        <p:nvSpPr>
          <p:cNvPr id="3" name="Content Placeholder 2"/>
          <p:cNvSpPr>
            <a:spLocks noGrp="1"/>
          </p:cNvSpPr>
          <p:nvPr>
            <p:ph idx="1"/>
          </p:nvPr>
        </p:nvSpPr>
        <p:spPr/>
        <p:txBody>
          <a:bodyPr/>
          <a:lstStyle/>
          <a:p>
            <a:pPr>
              <a:spcBef>
                <a:spcPts val="1200"/>
              </a:spcBef>
            </a:pPr>
            <a:r>
              <a:rPr lang="en-US" b="1" dirty="0"/>
              <a:t>Peer-to-Peer</a:t>
            </a:r>
            <a:r>
              <a:rPr lang="en-US" dirty="0"/>
              <a:t>: individual packages communicate over defined API</a:t>
            </a:r>
          </a:p>
          <a:p>
            <a:pPr>
              <a:spcBef>
                <a:spcPts val="1200"/>
              </a:spcBef>
            </a:pPr>
            <a:r>
              <a:rPr lang="en-US" b="1" dirty="0"/>
              <a:t>Network</a:t>
            </a:r>
            <a:r>
              <a:rPr lang="en-US" dirty="0"/>
              <a:t>: Multiple computer can run and communicate over the network</a:t>
            </a:r>
          </a:p>
          <a:p>
            <a:pPr>
              <a:spcBef>
                <a:spcPts val="1200"/>
              </a:spcBef>
            </a:pPr>
            <a:r>
              <a:rPr lang="en-US" b="1" dirty="0"/>
              <a:t>Multi-Language</a:t>
            </a:r>
            <a:r>
              <a:rPr lang="en-US" dirty="0"/>
              <a:t>: ROS module can be written and multiple languages (C++, Python, </a:t>
            </a:r>
            <a:r>
              <a:rPr lang="en-US" dirty="0" err="1"/>
              <a:t>Matlab</a:t>
            </a:r>
            <a:r>
              <a:rPr lang="en-US" dirty="0"/>
              <a:t>, Java…)</a:t>
            </a:r>
          </a:p>
          <a:p>
            <a:pPr>
              <a:spcBef>
                <a:spcPts val="1200"/>
              </a:spcBef>
            </a:pPr>
            <a:r>
              <a:rPr lang="en-US" b="1" dirty="0"/>
              <a:t>Thin</a:t>
            </a:r>
            <a:r>
              <a:rPr lang="en-US" dirty="0"/>
              <a:t>: stand-alone libraries are build inside ROS layer</a:t>
            </a:r>
          </a:p>
          <a:p>
            <a:pPr>
              <a:spcBef>
                <a:spcPts val="1200"/>
              </a:spcBef>
            </a:pPr>
            <a:r>
              <a:rPr lang="en-US" b="1" dirty="0"/>
              <a:t>Free and open source</a:t>
            </a:r>
          </a:p>
          <a:p>
            <a:endParaRPr lang="en-US" dirty="0"/>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7</a:t>
            </a:fld>
            <a:endParaRPr lang="en-US" dirty="0"/>
          </a:p>
        </p:txBody>
      </p:sp>
    </p:spTree>
    <p:extLst>
      <p:ext uri="{BB962C8B-B14F-4D97-AF65-F5344CB8AC3E}">
        <p14:creationId xmlns:p14="http://schemas.microsoft.com/office/powerpoint/2010/main" val="4088343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Build System</a:t>
            </a:r>
          </a:p>
        </p:txBody>
      </p:sp>
      <p:sp>
        <p:nvSpPr>
          <p:cNvPr id="3" name="Content Placeholder 2"/>
          <p:cNvSpPr>
            <a:spLocks noGrp="1"/>
          </p:cNvSpPr>
          <p:nvPr>
            <p:ph idx="1"/>
          </p:nvPr>
        </p:nvSpPr>
        <p:spPr/>
        <p:txBody>
          <a:bodyPr/>
          <a:lstStyle/>
          <a:p>
            <a:r>
              <a:rPr lang="en-US" b="1" dirty="0"/>
              <a:t>ROS build system </a:t>
            </a:r>
            <a:r>
              <a:rPr lang="en-US" dirty="0"/>
              <a:t>– </a:t>
            </a:r>
            <a:r>
              <a:rPr lang="en-US" b="1" i="1" dirty="0">
                <a:solidFill>
                  <a:srgbClr val="0070C0"/>
                </a:solidFill>
              </a:rPr>
              <a:t>catkin</a:t>
            </a:r>
            <a:r>
              <a:rPr lang="en-US" b="1" dirty="0">
                <a:solidFill>
                  <a:srgbClr val="0070C0"/>
                </a:solidFill>
              </a:rPr>
              <a:t> </a:t>
            </a:r>
            <a:r>
              <a:rPr lang="en-US" dirty="0"/>
              <a:t>– is responsible for generating executables, libraries and interface from raw independent source code – </a:t>
            </a:r>
            <a:r>
              <a:rPr lang="en-US" b="1" i="1" dirty="0">
                <a:solidFill>
                  <a:srgbClr val="0070C0"/>
                </a:solidFill>
              </a:rPr>
              <a:t>packages</a:t>
            </a:r>
          </a:p>
          <a:p>
            <a:r>
              <a:rPr lang="en-US" b="1" i="1" dirty="0"/>
              <a:t>catkin</a:t>
            </a:r>
            <a:r>
              <a:rPr lang="en-US" dirty="0"/>
              <a:t> also provides the concept of </a:t>
            </a:r>
            <a:r>
              <a:rPr lang="en-US" b="1" i="1" dirty="0">
                <a:solidFill>
                  <a:srgbClr val="0070C0"/>
                </a:solidFill>
              </a:rPr>
              <a:t>workspaces</a:t>
            </a:r>
            <a:r>
              <a:rPr lang="en-US" dirty="0"/>
              <a:t>, where you can build multiple, interdependent packages together all at once.</a:t>
            </a:r>
          </a:p>
          <a:p>
            <a:endParaRPr lang="en-US" b="1" i="1" dirty="0">
              <a:solidFill>
                <a:srgbClr val="0070C0"/>
              </a:solidFill>
            </a:endParaRPr>
          </a:p>
        </p:txBody>
      </p:sp>
      <p:sp>
        <p:nvSpPr>
          <p:cNvPr id="4" name="Slide Number Placeholder 3"/>
          <p:cNvSpPr>
            <a:spLocks noGrp="1"/>
          </p:cNvSpPr>
          <p:nvPr>
            <p:ph type="sldNum" sz="quarter" idx="12"/>
          </p:nvPr>
        </p:nvSpPr>
        <p:spPr/>
        <p:txBody>
          <a:bodyPr/>
          <a:lstStyle/>
          <a:p>
            <a:fld id="{3957FE44-DABC-424D-A234-74BB9410FF27}" type="slidenum">
              <a:rPr lang="en-US" smtClean="0"/>
              <a:pPr/>
              <a:t>8</a:t>
            </a:fld>
            <a:endParaRPr lang="en-US" dirty="0"/>
          </a:p>
        </p:txBody>
      </p:sp>
      <p:pic>
        <p:nvPicPr>
          <p:cNvPr id="1026" name="Picture 2" descr="Study notes of autolabor 2.5 (3) — working space and compiling system of  ROS | Develop 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6140" y="4114800"/>
            <a:ext cx="5703860" cy="2438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80729" y="6441404"/>
            <a:ext cx="3470822" cy="338554"/>
          </a:xfrm>
          <a:prstGeom prst="rect">
            <a:avLst/>
          </a:prstGeom>
        </p:spPr>
        <p:txBody>
          <a:bodyPr wrap="none">
            <a:spAutoFit/>
          </a:bodyPr>
          <a:lstStyle/>
          <a:p>
            <a:r>
              <a:rPr lang="en-US" sz="1600" i="1" dirty="0">
                <a:solidFill>
                  <a:srgbClr val="0070C0"/>
                </a:solidFill>
              </a:rPr>
              <a:t>http://wiki.ros.org/catkin/workspaces</a:t>
            </a:r>
          </a:p>
        </p:txBody>
      </p:sp>
    </p:spTree>
    <p:extLst>
      <p:ext uri="{BB962C8B-B14F-4D97-AF65-F5344CB8AC3E}">
        <p14:creationId xmlns:p14="http://schemas.microsoft.com/office/powerpoint/2010/main" val="36566534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Workspace</a:t>
            </a:r>
          </a:p>
        </p:txBody>
      </p:sp>
      <p:sp>
        <p:nvSpPr>
          <p:cNvPr id="4" name="Slide Number Placeholder 3"/>
          <p:cNvSpPr>
            <a:spLocks noGrp="1"/>
          </p:cNvSpPr>
          <p:nvPr>
            <p:ph type="sldNum" sz="quarter" idx="12"/>
          </p:nvPr>
        </p:nvSpPr>
        <p:spPr/>
        <p:txBody>
          <a:bodyPr/>
          <a:lstStyle/>
          <a:p>
            <a:fld id="{3957FE44-DABC-424D-A234-74BB9410FF27}" type="slidenum">
              <a:rPr lang="en-US" smtClean="0"/>
              <a:pPr/>
              <a:t>9</a:t>
            </a:fld>
            <a:endParaRPr lang="en-US" dirty="0"/>
          </a:p>
        </p:txBody>
      </p:sp>
      <p:pic>
        <p:nvPicPr>
          <p:cNvPr id="5" name="Picture 2" descr="Study notes of autolabor 2.5 (3) — working space and compiling system of  ROS | Develop Paper"/>
          <p:cNvPicPr>
            <a:picLocks noChangeAspect="1" noChangeArrowheads="1"/>
          </p:cNvPicPr>
          <p:nvPr/>
        </p:nvPicPr>
        <p:blipFill rotWithShape="1">
          <a:blip r:embed="rId2">
            <a:extLst>
              <a:ext uri="{28A0092B-C50C-407E-A947-70E740481C1C}">
                <a14:useLocalDpi xmlns:a14="http://schemas.microsoft.com/office/drawing/2010/main" val="0"/>
              </a:ext>
            </a:extLst>
          </a:blip>
          <a:srcRect l="20556" r="22106" b="64030"/>
          <a:stretch/>
        </p:blipFill>
        <p:spPr bwMode="auto">
          <a:xfrm>
            <a:off x="1676399" y="1828800"/>
            <a:ext cx="5638801" cy="127862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057400" y="3202148"/>
            <a:ext cx="1600200" cy="1384995"/>
          </a:xfrm>
          <a:prstGeom prst="rect">
            <a:avLst/>
          </a:prstGeom>
          <a:noFill/>
        </p:spPr>
        <p:txBody>
          <a:bodyPr wrap="square" rtlCol="0">
            <a:spAutoFit/>
          </a:bodyPr>
          <a:lstStyle/>
          <a:p>
            <a:r>
              <a:rPr lang="en-US" sz="2000" b="1" dirty="0" err="1">
                <a:solidFill>
                  <a:srgbClr val="0070C0"/>
                </a:solidFill>
                <a:latin typeface="Courier New" panose="02070309020205020404" pitchFamily="49" charset="0"/>
                <a:cs typeface="Courier New" panose="02070309020205020404" pitchFamily="49" charset="0"/>
              </a:rPr>
              <a:t>src</a:t>
            </a:r>
            <a:r>
              <a:rPr lang="en-US" sz="2000" b="1" dirty="0">
                <a:solidFill>
                  <a:srgbClr val="0070C0"/>
                </a:solidFill>
                <a:latin typeface="Courier New" panose="02070309020205020404" pitchFamily="49" charset="0"/>
                <a:cs typeface="Courier New" panose="02070309020205020404" pitchFamily="49" charset="0"/>
              </a:rPr>
              <a:t> </a:t>
            </a:r>
          </a:p>
          <a:p>
            <a:r>
              <a:rPr lang="en-US" sz="1600" dirty="0">
                <a:latin typeface="Calibri" panose="020F0502020204030204" pitchFamily="34" charset="0"/>
                <a:cs typeface="Calibri" panose="020F0502020204030204" pitchFamily="34" charset="0"/>
              </a:rPr>
              <a:t>The source space contains source code for packages</a:t>
            </a:r>
          </a:p>
        </p:txBody>
      </p:sp>
      <p:sp>
        <p:nvSpPr>
          <p:cNvPr id="7" name="TextBox 6"/>
          <p:cNvSpPr txBox="1"/>
          <p:nvPr/>
        </p:nvSpPr>
        <p:spPr>
          <a:xfrm>
            <a:off x="3962400" y="3277895"/>
            <a:ext cx="1542525" cy="1631216"/>
          </a:xfrm>
          <a:prstGeom prst="rect">
            <a:avLst/>
          </a:prstGeom>
          <a:noFill/>
        </p:spPr>
        <p:txBody>
          <a:bodyPr wrap="square" rtlCol="0">
            <a:spAutoFit/>
          </a:bodyPr>
          <a:lstStyle/>
          <a:p>
            <a:r>
              <a:rPr lang="en-US" sz="2000" b="1" dirty="0">
                <a:solidFill>
                  <a:schemeClr val="accent2">
                    <a:lumMod val="75000"/>
                  </a:schemeClr>
                </a:solidFill>
                <a:latin typeface="Courier New" panose="02070309020205020404" pitchFamily="49" charset="0"/>
                <a:cs typeface="Courier New" panose="02070309020205020404" pitchFamily="49" charset="0"/>
              </a:rPr>
              <a:t>build</a:t>
            </a:r>
          </a:p>
          <a:p>
            <a:r>
              <a:rPr lang="en-US" sz="1600" dirty="0">
                <a:latin typeface="Calibri" panose="020F0502020204030204" pitchFamily="34" charset="0"/>
                <a:cs typeface="Calibri" panose="020F0502020204030204" pitchFamily="34" charset="0"/>
              </a:rPr>
              <a:t>Where </a:t>
            </a:r>
            <a:r>
              <a:rPr lang="en-US" sz="1600" dirty="0" err="1">
                <a:latin typeface="Calibri" panose="020F0502020204030204" pitchFamily="34" charset="0"/>
                <a:cs typeface="Calibri" panose="020F0502020204030204" pitchFamily="34" charset="0"/>
              </a:rPr>
              <a:t>CMake</a:t>
            </a:r>
            <a:r>
              <a:rPr lang="en-US" sz="1600" dirty="0">
                <a:latin typeface="Calibri" panose="020F0502020204030204" pitchFamily="34" charset="0"/>
                <a:cs typeface="Calibri" panose="020F0502020204030204" pitchFamily="34" charset="0"/>
              </a:rPr>
              <a:t>  used to build the packages contained in </a:t>
            </a:r>
            <a:r>
              <a:rPr lang="en-US" sz="1600" dirty="0" err="1">
                <a:latin typeface="Calibri" panose="020F0502020204030204" pitchFamily="34" charset="0"/>
                <a:cs typeface="Calibri" panose="020F0502020204030204" pitchFamily="34" charset="0"/>
              </a:rPr>
              <a:t>src</a:t>
            </a:r>
            <a:r>
              <a:rPr lang="en-US" sz="1600" dirty="0">
                <a:latin typeface="Calibri" panose="020F0502020204030204" pitchFamily="34" charset="0"/>
                <a:cs typeface="Calibri" panose="020F0502020204030204" pitchFamily="34" charset="0"/>
              </a:rPr>
              <a:t> folder </a:t>
            </a:r>
          </a:p>
        </p:txBody>
      </p:sp>
      <p:sp>
        <p:nvSpPr>
          <p:cNvPr id="8" name="TextBox 7"/>
          <p:cNvSpPr txBox="1"/>
          <p:nvPr/>
        </p:nvSpPr>
        <p:spPr>
          <a:xfrm>
            <a:off x="5715000" y="3202148"/>
            <a:ext cx="1600200" cy="1631216"/>
          </a:xfrm>
          <a:prstGeom prst="rect">
            <a:avLst/>
          </a:prstGeom>
          <a:noFill/>
        </p:spPr>
        <p:txBody>
          <a:bodyPr wrap="square" rtlCol="0">
            <a:spAutoFit/>
          </a:bodyPr>
          <a:lstStyle/>
          <a:p>
            <a:r>
              <a:rPr lang="en-US" sz="2000" b="1" dirty="0" err="1">
                <a:solidFill>
                  <a:schemeClr val="tx2">
                    <a:lumMod val="75000"/>
                  </a:schemeClr>
                </a:solidFill>
                <a:latin typeface="Courier New" panose="02070309020205020404" pitchFamily="49" charset="0"/>
                <a:cs typeface="Courier New" panose="02070309020205020404" pitchFamily="49" charset="0"/>
              </a:rPr>
              <a:t>devel</a:t>
            </a:r>
            <a:r>
              <a:rPr lang="en-US" sz="2000" b="1" dirty="0">
                <a:solidFill>
                  <a:srgbClr val="0070C0"/>
                </a:solidFill>
                <a:latin typeface="Courier New" panose="02070309020205020404" pitchFamily="49" charset="0"/>
                <a:cs typeface="Courier New" panose="02070309020205020404" pitchFamily="49" charset="0"/>
              </a:rPr>
              <a:t> </a:t>
            </a:r>
          </a:p>
          <a:p>
            <a:r>
              <a:rPr lang="en-US" sz="1600" dirty="0">
                <a:latin typeface="Calibri" panose="020F0502020204030204" pitchFamily="34" charset="0"/>
                <a:cs typeface="Calibri" panose="020F0502020204030204" pitchFamily="34" charset="0"/>
              </a:rPr>
              <a:t>Developmental space where built targets are placed before being installed</a:t>
            </a:r>
          </a:p>
        </p:txBody>
      </p:sp>
      <p:sp>
        <p:nvSpPr>
          <p:cNvPr id="9" name="TextBox 8"/>
          <p:cNvSpPr txBox="1"/>
          <p:nvPr/>
        </p:nvSpPr>
        <p:spPr>
          <a:xfrm>
            <a:off x="653116" y="3653363"/>
            <a:ext cx="1244893" cy="369332"/>
          </a:xfrm>
          <a:prstGeom prst="rect">
            <a:avLst/>
          </a:prstGeom>
          <a:noFill/>
        </p:spPr>
        <p:txBody>
          <a:bodyPr wrap="none" rtlCol="0">
            <a:spAutoFit/>
          </a:bodyPr>
          <a:lstStyle/>
          <a:p>
            <a:r>
              <a:rPr lang="en-US" dirty="0">
                <a:solidFill>
                  <a:srgbClr val="00B050"/>
                </a:solidFill>
              </a:rPr>
              <a:t>Work here</a:t>
            </a:r>
          </a:p>
        </p:txBody>
      </p:sp>
      <p:sp>
        <p:nvSpPr>
          <p:cNvPr id="10" name="TextBox 9"/>
          <p:cNvSpPr txBox="1"/>
          <p:nvPr/>
        </p:nvSpPr>
        <p:spPr>
          <a:xfrm>
            <a:off x="4940153" y="5174311"/>
            <a:ext cx="1351652" cy="369332"/>
          </a:xfrm>
          <a:prstGeom prst="rect">
            <a:avLst/>
          </a:prstGeom>
          <a:noFill/>
        </p:spPr>
        <p:txBody>
          <a:bodyPr wrap="none" rtlCol="0">
            <a:spAutoFit/>
          </a:bodyPr>
          <a:lstStyle/>
          <a:p>
            <a:r>
              <a:rPr lang="en-US" dirty="0">
                <a:solidFill>
                  <a:srgbClr val="FF0000"/>
                </a:solidFill>
              </a:rPr>
              <a:t>Don’t touch</a:t>
            </a:r>
          </a:p>
        </p:txBody>
      </p:sp>
      <p:sp>
        <p:nvSpPr>
          <p:cNvPr id="11" name="Rectangle 10"/>
          <p:cNvSpPr/>
          <p:nvPr/>
        </p:nvSpPr>
        <p:spPr>
          <a:xfrm>
            <a:off x="1921778" y="2536621"/>
            <a:ext cx="1653330" cy="254296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745334" y="2536621"/>
            <a:ext cx="3569865" cy="25429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174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Package</a:t>
            </a:r>
          </a:p>
        </p:txBody>
      </p:sp>
      <p:sp>
        <p:nvSpPr>
          <p:cNvPr id="3" name="Content Placeholder 2"/>
          <p:cNvSpPr>
            <a:spLocks noGrp="1"/>
          </p:cNvSpPr>
          <p:nvPr>
            <p:ph idx="1"/>
          </p:nvPr>
        </p:nvSpPr>
        <p:spPr/>
        <p:txBody>
          <a:bodyPr/>
          <a:lstStyle/>
          <a:p>
            <a:r>
              <a:rPr lang="en-US" dirty="0"/>
              <a:t>Package is the basic cell of ROS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10</a:t>
            </a:fld>
            <a:endParaRPr lang="en-US" dirty="0"/>
          </a:p>
        </p:txBody>
      </p:sp>
      <p:pic>
        <p:nvPicPr>
          <p:cNvPr id="2050" name="Picture 2" descr="Study notes of autolabor 2.5 (3) -- working space and compiling system of R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057400"/>
            <a:ext cx="6553200" cy="23812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33400" y="3581400"/>
            <a:ext cx="1905000" cy="646331"/>
          </a:xfrm>
          <a:prstGeom prst="rect">
            <a:avLst/>
          </a:prstGeom>
        </p:spPr>
        <p:txBody>
          <a:bodyPr wrap="square">
            <a:spAutoFit/>
          </a:bodyPr>
          <a:lstStyle/>
          <a:p>
            <a:r>
              <a:rPr lang="en-US" dirty="0">
                <a:solidFill>
                  <a:srgbClr val="0070C0"/>
                </a:solidFill>
                <a:latin typeface="Calibri" panose="020F0502020204030204" pitchFamily="34" charset="0"/>
                <a:cs typeface="Calibri" panose="020F0502020204030204" pitchFamily="34" charset="0"/>
              </a:rPr>
              <a:t>Set rules for catkin compilation</a:t>
            </a:r>
          </a:p>
        </p:txBody>
      </p:sp>
      <p:sp>
        <p:nvSpPr>
          <p:cNvPr id="7" name="Rectangle 6"/>
          <p:cNvSpPr/>
          <p:nvPr/>
        </p:nvSpPr>
        <p:spPr>
          <a:xfrm>
            <a:off x="2480170" y="4152036"/>
            <a:ext cx="2057400" cy="1200329"/>
          </a:xfrm>
          <a:prstGeom prst="rect">
            <a:avLst/>
          </a:prstGeom>
        </p:spPr>
        <p:txBody>
          <a:bodyPr wrap="square">
            <a:spAutoFit/>
          </a:bodyPr>
          <a:lstStyle/>
          <a:p>
            <a:r>
              <a:rPr lang="en-US" dirty="0">
                <a:solidFill>
                  <a:schemeClr val="tx2">
                    <a:lumMod val="75000"/>
                  </a:schemeClr>
                </a:solidFill>
                <a:latin typeface="Calibri" panose="020F0502020204030204" pitchFamily="34" charset="0"/>
                <a:cs typeface="Calibri" panose="020F0502020204030204" pitchFamily="34" charset="0"/>
              </a:rPr>
              <a:t>Defines the properties of package: name, version, authors…</a:t>
            </a:r>
          </a:p>
        </p:txBody>
      </p:sp>
      <p:sp>
        <p:nvSpPr>
          <p:cNvPr id="8" name="Rectangle 7"/>
          <p:cNvSpPr/>
          <p:nvPr/>
        </p:nvSpPr>
        <p:spPr>
          <a:xfrm>
            <a:off x="7048500" y="2450068"/>
            <a:ext cx="2209800" cy="369332"/>
          </a:xfrm>
          <a:prstGeom prst="rect">
            <a:avLst/>
          </a:prstGeom>
        </p:spPr>
        <p:txBody>
          <a:bodyPr wrap="square">
            <a:spAutoFit/>
          </a:bodyPr>
          <a:lstStyle/>
          <a:p>
            <a:r>
              <a:rPr lang="en-US" dirty="0">
                <a:solidFill>
                  <a:schemeClr val="bg2">
                    <a:lumMod val="50000"/>
                  </a:schemeClr>
                </a:solidFill>
                <a:latin typeface="Calibri" panose="020F0502020204030204" pitchFamily="34" charset="0"/>
                <a:cs typeface="Calibri" panose="020F0502020204030204" pitchFamily="34" charset="0"/>
              </a:rPr>
              <a:t>Source Code</a:t>
            </a:r>
          </a:p>
        </p:txBody>
      </p:sp>
      <p:cxnSp>
        <p:nvCxnSpPr>
          <p:cNvPr id="9" name="Straight Arrow Connector 8"/>
          <p:cNvCxnSpPr/>
          <p:nvPr/>
        </p:nvCxnSpPr>
        <p:spPr>
          <a:xfrm flipV="1">
            <a:off x="1828800" y="3505200"/>
            <a:ext cx="381000" cy="304800"/>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200400" y="3504340"/>
            <a:ext cx="616940" cy="647696"/>
          </a:xfrm>
          <a:prstGeom prst="straightConnector1">
            <a:avLst/>
          </a:prstGeom>
          <a:ln w="28575">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00600" y="2819400"/>
            <a:ext cx="3048000" cy="762000"/>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33400" y="5914563"/>
            <a:ext cx="2866938" cy="815608"/>
          </a:xfrm>
          <a:prstGeom prst="rect">
            <a:avLst/>
          </a:prstGeom>
        </p:spPr>
        <p:txBody>
          <a:bodyPr wrap="square">
            <a:spAutoFit/>
          </a:bodyPr>
          <a:lstStyle/>
          <a:p>
            <a:r>
              <a:rPr lang="en-US" sz="1200" b="1" i="1" dirty="0"/>
              <a:t>More detail</a:t>
            </a:r>
            <a:endParaRPr lang="en-US" sz="1200" b="1" i="1" dirty="0">
              <a:hlinkClick r:id="rId4"/>
            </a:endParaRPr>
          </a:p>
          <a:p>
            <a:r>
              <a:rPr lang="en-US" sz="1200" i="1" dirty="0">
                <a:solidFill>
                  <a:srgbClr val="0099FF"/>
                </a:solidFill>
              </a:rPr>
              <a:t>http://wiki.ros.org/catkin/CMakeLists.txt</a:t>
            </a:r>
          </a:p>
          <a:p>
            <a:r>
              <a:rPr lang="en-US" sz="1200" i="1" dirty="0">
                <a:solidFill>
                  <a:srgbClr val="0099FF"/>
                </a:solidFill>
              </a:rPr>
              <a:t>http://wiki.ros.org/catkin/package.xml</a:t>
            </a:r>
          </a:p>
          <a:p>
            <a:endParaRPr lang="en-US" sz="1100" i="1" dirty="0"/>
          </a:p>
        </p:txBody>
      </p:sp>
    </p:spTree>
    <p:extLst>
      <p:ext uri="{BB962C8B-B14F-4D97-AF65-F5344CB8AC3E}">
        <p14:creationId xmlns:p14="http://schemas.microsoft.com/office/powerpoint/2010/main" val="121320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E32B5-4A46-4497-86FD-C7D9109170AE}"/>
              </a:ext>
            </a:extLst>
          </p:cNvPr>
          <p:cNvSpPr>
            <a:spLocks noGrp="1"/>
          </p:cNvSpPr>
          <p:nvPr>
            <p:ph type="title"/>
          </p:nvPr>
        </p:nvSpPr>
        <p:spPr/>
        <p:txBody>
          <a:bodyPr/>
          <a:lstStyle/>
          <a:p>
            <a:r>
              <a:rPr lang="en-US" b="1" dirty="0"/>
              <a:t>How ROS works</a:t>
            </a:r>
          </a:p>
        </p:txBody>
      </p:sp>
      <p:sp>
        <p:nvSpPr>
          <p:cNvPr id="3" name="Content Placeholder 2">
            <a:extLst>
              <a:ext uri="{FF2B5EF4-FFF2-40B4-BE49-F238E27FC236}">
                <a16:creationId xmlns:a16="http://schemas.microsoft.com/office/drawing/2014/main" id="{0529A0AF-BE24-47E7-8E87-E090DB2E18DB}"/>
              </a:ext>
            </a:extLst>
          </p:cNvPr>
          <p:cNvSpPr>
            <a:spLocks noGrp="1"/>
          </p:cNvSpPr>
          <p:nvPr>
            <p:ph idx="1"/>
          </p:nvPr>
        </p:nvSpPr>
        <p:spPr/>
        <p:txBody>
          <a:bodyPr/>
          <a:lstStyle/>
          <a:p>
            <a:r>
              <a:rPr lang="en-US" dirty="0"/>
              <a:t>ROS ideas: a robotic task can be decomposed into many independent subsystems </a:t>
            </a:r>
            <a:r>
              <a:rPr lang="en-US" dirty="0">
                <a:sym typeface="Wingdings" panose="05000000000000000000" pitchFamily="2" charset="2"/>
              </a:rPr>
              <a:t> </a:t>
            </a:r>
            <a:r>
              <a:rPr lang="en-US" b="1" dirty="0">
                <a:solidFill>
                  <a:srgbClr val="0070C0"/>
                </a:solidFill>
                <a:sym typeface="Wingdings" panose="05000000000000000000" pitchFamily="2" charset="2"/>
              </a:rPr>
              <a:t>Nodes</a:t>
            </a:r>
            <a:r>
              <a:rPr lang="en-US" dirty="0"/>
              <a:t> </a:t>
            </a:r>
          </a:p>
          <a:p>
            <a:r>
              <a:rPr lang="en-US" dirty="0"/>
              <a:t>Nodes (code or tools) communicate with each other using messages </a:t>
            </a:r>
            <a:r>
              <a:rPr lang="en-US" dirty="0">
                <a:sym typeface="Wingdings" panose="05000000000000000000" pitchFamily="2" charset="2"/>
              </a:rPr>
              <a:t> </a:t>
            </a:r>
            <a:r>
              <a:rPr lang="en-US" b="1" dirty="0">
                <a:solidFill>
                  <a:srgbClr val="0070C0"/>
                </a:solidFill>
                <a:sym typeface="Wingdings" panose="05000000000000000000" pitchFamily="2" charset="2"/>
              </a:rPr>
              <a:t>Topics</a:t>
            </a:r>
          </a:p>
          <a:p>
            <a:r>
              <a:rPr lang="en-US" dirty="0">
                <a:sym typeface="Wingdings" panose="05000000000000000000" pitchFamily="2" charset="2"/>
              </a:rPr>
              <a:t>Each node can send or </a:t>
            </a:r>
            <a:r>
              <a:rPr lang="en-US">
                <a:sym typeface="Wingdings" panose="05000000000000000000" pitchFamily="2" charset="2"/>
              </a:rPr>
              <a:t>get data </a:t>
            </a:r>
            <a:r>
              <a:rPr lang="en-US" dirty="0">
                <a:sym typeface="Wingdings" panose="05000000000000000000" pitchFamily="2" charset="2"/>
              </a:rPr>
              <a:t>using </a:t>
            </a:r>
            <a:r>
              <a:rPr lang="en-US" b="1" dirty="0">
                <a:solidFill>
                  <a:srgbClr val="0070C0"/>
                </a:solidFill>
                <a:sym typeface="Wingdings" panose="05000000000000000000" pitchFamily="2" charset="2"/>
              </a:rPr>
              <a:t>publish/subscribe </a:t>
            </a:r>
            <a:r>
              <a:rPr lang="en-US" dirty="0">
                <a:sym typeface="Wingdings" panose="05000000000000000000" pitchFamily="2" charset="2"/>
              </a:rPr>
              <a:t>model</a:t>
            </a:r>
            <a:endParaRPr lang="en-US" dirty="0"/>
          </a:p>
        </p:txBody>
      </p:sp>
      <p:sp>
        <p:nvSpPr>
          <p:cNvPr id="4" name="Slide Number Placeholder 3">
            <a:extLst>
              <a:ext uri="{FF2B5EF4-FFF2-40B4-BE49-F238E27FC236}">
                <a16:creationId xmlns:a16="http://schemas.microsoft.com/office/drawing/2014/main" id="{A7631648-57C7-42AB-800A-A0FBE76CDAD0}"/>
              </a:ext>
            </a:extLst>
          </p:cNvPr>
          <p:cNvSpPr>
            <a:spLocks noGrp="1"/>
          </p:cNvSpPr>
          <p:nvPr>
            <p:ph type="sldNum" sz="quarter" idx="12"/>
          </p:nvPr>
        </p:nvSpPr>
        <p:spPr/>
        <p:txBody>
          <a:bodyPr/>
          <a:lstStyle/>
          <a:p>
            <a:fld id="{3957FE44-DABC-424D-A234-74BB9410FF27}" type="slidenum">
              <a:rPr lang="en-US" smtClean="0"/>
              <a:pPr/>
              <a:t>11</a:t>
            </a:fld>
            <a:endParaRPr lang="en-US" dirty="0"/>
          </a:p>
        </p:txBody>
      </p:sp>
      <p:pic>
        <p:nvPicPr>
          <p:cNvPr id="5" name="Picture 4">
            <a:extLst>
              <a:ext uri="{FF2B5EF4-FFF2-40B4-BE49-F238E27FC236}">
                <a16:creationId xmlns:a16="http://schemas.microsoft.com/office/drawing/2014/main" id="{7FF2A85C-ABE1-49D3-A3B5-E5DB8256E269}"/>
              </a:ext>
            </a:extLst>
          </p:cNvPr>
          <p:cNvPicPr>
            <a:picLocks noChangeAspect="1"/>
          </p:cNvPicPr>
          <p:nvPr/>
        </p:nvPicPr>
        <p:blipFill>
          <a:blip r:embed="rId2"/>
          <a:stretch>
            <a:fillRect/>
          </a:stretch>
        </p:blipFill>
        <p:spPr>
          <a:xfrm>
            <a:off x="1524000" y="4114800"/>
            <a:ext cx="6477000" cy="1686920"/>
          </a:xfrm>
          <a:prstGeom prst="rect">
            <a:avLst/>
          </a:prstGeom>
        </p:spPr>
      </p:pic>
      <p:sp>
        <p:nvSpPr>
          <p:cNvPr id="6" name="TextBox 5">
            <a:extLst>
              <a:ext uri="{FF2B5EF4-FFF2-40B4-BE49-F238E27FC236}">
                <a16:creationId xmlns:a16="http://schemas.microsoft.com/office/drawing/2014/main" id="{7D72D996-36BD-46D3-8EB8-F7084F8A5304}"/>
              </a:ext>
            </a:extLst>
          </p:cNvPr>
          <p:cNvSpPr txBox="1"/>
          <p:nvPr/>
        </p:nvSpPr>
        <p:spPr>
          <a:xfrm>
            <a:off x="2667000" y="5835766"/>
            <a:ext cx="5586658" cy="369332"/>
          </a:xfrm>
          <a:prstGeom prst="rect">
            <a:avLst/>
          </a:prstGeom>
          <a:noFill/>
        </p:spPr>
        <p:txBody>
          <a:bodyPr wrap="none" rtlCol="0">
            <a:spAutoFit/>
          </a:bodyPr>
          <a:lstStyle/>
          <a:p>
            <a:r>
              <a:rPr lang="en-US" i="1" dirty="0"/>
              <a:t>(</a:t>
            </a:r>
            <a:r>
              <a:rPr lang="en-US" sz="1600" i="1" dirty="0"/>
              <a:t>Source: </a:t>
            </a:r>
            <a:r>
              <a:rPr lang="en-US" sz="1600" b="0" i="1" dirty="0">
                <a:solidFill>
                  <a:srgbClr val="666666"/>
                </a:solidFill>
                <a:effectLst/>
              </a:rPr>
              <a:t> </a:t>
            </a:r>
            <a:r>
              <a:rPr lang="en-US" sz="1600" i="1" dirty="0">
                <a:hlinkClick r:id="rId3"/>
              </a:rPr>
              <a:t>https://www.youtube.com/watch?v=bJB9tv4ThV4</a:t>
            </a:r>
            <a:r>
              <a:rPr lang="en-US" sz="1600" b="0" i="1" u="none" strike="noStrike" dirty="0">
                <a:effectLst/>
              </a:rPr>
              <a:t>)</a:t>
            </a:r>
            <a:endParaRPr lang="en-US" sz="1600" i="1" dirty="0"/>
          </a:p>
        </p:txBody>
      </p:sp>
    </p:spTree>
    <p:extLst>
      <p:ext uri="{BB962C8B-B14F-4D97-AF65-F5344CB8AC3E}">
        <p14:creationId xmlns:p14="http://schemas.microsoft.com/office/powerpoint/2010/main" val="2213976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7C42F-8E96-470D-95AA-411932218441}"/>
              </a:ext>
            </a:extLst>
          </p:cNvPr>
          <p:cNvSpPr>
            <a:spLocks noGrp="1"/>
          </p:cNvSpPr>
          <p:nvPr>
            <p:ph type="title"/>
          </p:nvPr>
        </p:nvSpPr>
        <p:spPr/>
        <p:txBody>
          <a:bodyPr/>
          <a:lstStyle/>
          <a:p>
            <a:r>
              <a:rPr lang="en-US" b="1" dirty="0"/>
              <a:t>How ROS works</a:t>
            </a:r>
          </a:p>
        </p:txBody>
      </p:sp>
      <p:sp>
        <p:nvSpPr>
          <p:cNvPr id="3" name="Content Placeholder 2">
            <a:extLst>
              <a:ext uri="{FF2B5EF4-FFF2-40B4-BE49-F238E27FC236}">
                <a16:creationId xmlns:a16="http://schemas.microsoft.com/office/drawing/2014/main" id="{0DB19D79-7740-466E-B2E1-25757B03DD8A}"/>
              </a:ext>
            </a:extLst>
          </p:cNvPr>
          <p:cNvSpPr>
            <a:spLocks noGrp="1"/>
          </p:cNvSpPr>
          <p:nvPr>
            <p:ph idx="1"/>
          </p:nvPr>
        </p:nvSpPr>
        <p:spPr/>
        <p:txBody>
          <a:bodyPr/>
          <a:lstStyle/>
          <a:p>
            <a:pPr marL="0" indent="0">
              <a:buNone/>
            </a:pPr>
            <a:r>
              <a:rPr lang="en-US" b="1" dirty="0"/>
              <a:t>Publish/subscribe model</a:t>
            </a:r>
          </a:p>
          <a:p>
            <a:r>
              <a:rPr lang="en-US" dirty="0"/>
              <a:t>Any node can publish a message to any topic</a:t>
            </a:r>
          </a:p>
          <a:p>
            <a:r>
              <a:rPr lang="en-US" dirty="0"/>
              <a:t>Any node can subscribe to any topic</a:t>
            </a:r>
          </a:p>
          <a:p>
            <a:r>
              <a:rPr lang="en-US" dirty="0"/>
              <a:t>Multiple nodes can publish to the same topic</a:t>
            </a:r>
          </a:p>
          <a:p>
            <a:r>
              <a:rPr lang="en-US" dirty="0"/>
              <a:t>Multiple nodes can subscribe to the same topic</a:t>
            </a:r>
          </a:p>
          <a:p>
            <a:r>
              <a:rPr lang="en-US" dirty="0"/>
              <a:t>A node can publish to multiple topic</a:t>
            </a:r>
          </a:p>
          <a:p>
            <a:r>
              <a:rPr lang="en-US" dirty="0"/>
              <a:t>A node can subscribe to multiple topic</a:t>
            </a:r>
          </a:p>
          <a:p>
            <a:pPr marL="0" indent="0">
              <a:buNone/>
            </a:pPr>
            <a:r>
              <a:rPr lang="en-US" b="1" dirty="0"/>
              <a:t>ROS message</a:t>
            </a:r>
          </a:p>
          <a:p>
            <a:r>
              <a:rPr lang="en-US" dirty="0"/>
              <a:t>A serialization format for structured data</a:t>
            </a:r>
          </a:p>
          <a:p>
            <a:r>
              <a:rPr lang="en-US" dirty="0"/>
              <a:t>Allows nodes written and C++ and python to communicate with each other</a:t>
            </a:r>
          </a:p>
          <a:p>
            <a:pPr marL="0" indent="0">
              <a:buNone/>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0618A1D-12C0-4284-AFB4-A6159C272BE8}"/>
              </a:ext>
            </a:extLst>
          </p:cNvPr>
          <p:cNvSpPr>
            <a:spLocks noGrp="1"/>
          </p:cNvSpPr>
          <p:nvPr>
            <p:ph type="sldNum" sz="quarter" idx="12"/>
          </p:nvPr>
        </p:nvSpPr>
        <p:spPr/>
        <p:txBody>
          <a:bodyPr/>
          <a:lstStyle/>
          <a:p>
            <a:fld id="{3957FE44-DABC-424D-A234-74BB9410FF27}" type="slidenum">
              <a:rPr lang="en-US" smtClean="0"/>
              <a:pPr/>
              <a:t>12</a:t>
            </a:fld>
            <a:endParaRPr lang="en-US" dirty="0"/>
          </a:p>
        </p:txBody>
      </p:sp>
    </p:spTree>
    <p:extLst>
      <p:ext uri="{BB962C8B-B14F-4D97-AF65-F5344CB8AC3E}">
        <p14:creationId xmlns:p14="http://schemas.microsoft.com/office/powerpoint/2010/main" val="343370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D8E17-4A47-4D91-8605-F43A784E2782}"/>
              </a:ext>
            </a:extLst>
          </p:cNvPr>
          <p:cNvSpPr>
            <a:spLocks noGrp="1"/>
          </p:cNvSpPr>
          <p:nvPr>
            <p:ph type="title"/>
          </p:nvPr>
        </p:nvSpPr>
        <p:spPr/>
        <p:txBody>
          <a:bodyPr/>
          <a:lstStyle/>
          <a:p>
            <a:r>
              <a:rPr lang="en-US" b="1" dirty="0"/>
              <a:t>ROS Master</a:t>
            </a:r>
            <a:endParaRPr lang="en-US" dirty="0"/>
          </a:p>
        </p:txBody>
      </p:sp>
      <p:sp>
        <p:nvSpPr>
          <p:cNvPr id="3" name="Content Placeholder 2">
            <a:extLst>
              <a:ext uri="{FF2B5EF4-FFF2-40B4-BE49-F238E27FC236}">
                <a16:creationId xmlns:a16="http://schemas.microsoft.com/office/drawing/2014/main" id="{791F06FE-0650-44E6-BF01-6DA3BD3B528B}"/>
              </a:ext>
            </a:extLst>
          </p:cNvPr>
          <p:cNvSpPr>
            <a:spLocks noGrp="1"/>
          </p:cNvSpPr>
          <p:nvPr>
            <p:ph idx="1"/>
          </p:nvPr>
        </p:nvSpPr>
        <p:spPr/>
        <p:txBody>
          <a:bodyPr>
            <a:normAutofit lnSpcReduction="10000"/>
          </a:bodyPr>
          <a:lstStyle/>
          <a:p>
            <a:r>
              <a:rPr lang="en-US" sz="2200" b="1" dirty="0"/>
              <a:t>ROS Master </a:t>
            </a:r>
            <a:r>
              <a:rPr lang="en-US" sz="2200" dirty="0"/>
              <a:t>is a server that provide </a:t>
            </a:r>
            <a:r>
              <a:rPr lang="en-US" sz="2200" b="1" dirty="0">
                <a:solidFill>
                  <a:srgbClr val="0070C0"/>
                </a:solidFill>
              </a:rPr>
              <a:t>connection information</a:t>
            </a:r>
            <a:r>
              <a:rPr lang="en-US" sz="2200" dirty="0">
                <a:solidFill>
                  <a:srgbClr val="0070C0"/>
                </a:solidFill>
              </a:rPr>
              <a:t> </a:t>
            </a:r>
            <a:r>
              <a:rPr lang="en-US" sz="2200" dirty="0"/>
              <a:t>(addresses, notification) to nodes</a:t>
            </a:r>
          </a:p>
          <a:p>
            <a:r>
              <a:rPr lang="en-US" sz="2200" dirty="0"/>
              <a:t>The messages between nodes are transmitted </a:t>
            </a:r>
            <a:r>
              <a:rPr lang="en-US" sz="2200" b="1" dirty="0">
                <a:solidFill>
                  <a:srgbClr val="0070C0"/>
                </a:solidFill>
              </a:rPr>
              <a:t>peer-to-peer</a:t>
            </a:r>
          </a:p>
          <a:p>
            <a:endParaRPr lang="en-US" sz="2200" b="1" dirty="0">
              <a:solidFill>
                <a:srgbClr val="0070C0"/>
              </a:solidFill>
            </a:endParaRPr>
          </a:p>
          <a:p>
            <a:endParaRPr lang="en-US" sz="2200" b="1" dirty="0">
              <a:solidFill>
                <a:srgbClr val="0070C0"/>
              </a:solidFill>
            </a:endParaRPr>
          </a:p>
          <a:p>
            <a:endParaRPr lang="en-US" sz="2200" b="1" dirty="0">
              <a:solidFill>
                <a:srgbClr val="0070C0"/>
              </a:solidFill>
            </a:endParaRPr>
          </a:p>
          <a:p>
            <a:endParaRPr lang="en-US" sz="2200" b="1" dirty="0">
              <a:solidFill>
                <a:srgbClr val="0070C0"/>
              </a:solidFill>
            </a:endParaRPr>
          </a:p>
          <a:p>
            <a:endParaRPr lang="en-US" sz="2200" b="1" dirty="0">
              <a:solidFill>
                <a:srgbClr val="0070C0"/>
              </a:solidFill>
            </a:endParaRPr>
          </a:p>
          <a:p>
            <a:endParaRPr lang="en-US" sz="2200" b="1" dirty="0">
              <a:solidFill>
                <a:srgbClr val="0070C0"/>
              </a:solidFill>
            </a:endParaRPr>
          </a:p>
          <a:p>
            <a:endParaRPr lang="en-US" sz="2200" b="1" dirty="0">
              <a:solidFill>
                <a:srgbClr val="0070C0"/>
              </a:solidFill>
            </a:endParaRPr>
          </a:p>
          <a:p>
            <a:r>
              <a:rPr lang="en-US" sz="2200" dirty="0"/>
              <a:t>Nodes must know network address of the master (</a:t>
            </a:r>
            <a:r>
              <a:rPr lang="en-US" sz="1800" i="1" u="none" strike="noStrike" baseline="0" dirty="0">
                <a:solidFill>
                  <a:srgbClr val="0070C0"/>
                </a:solidFill>
              </a:rPr>
              <a:t>ROS_MASTER_URI</a:t>
            </a:r>
            <a:r>
              <a:rPr lang="en-US" sz="1800" i="0" u="none" strike="noStrike" baseline="0" dirty="0"/>
              <a:t>)</a:t>
            </a:r>
            <a:r>
              <a:rPr lang="en-US" sz="2200" dirty="0"/>
              <a:t> before startup</a:t>
            </a:r>
          </a:p>
          <a:p>
            <a:r>
              <a:rPr lang="en-US" sz="2200" dirty="0"/>
              <a:t>ROS Master can be start with </a:t>
            </a:r>
            <a:r>
              <a:rPr lang="en-US" sz="2200" dirty="0" err="1">
                <a:solidFill>
                  <a:srgbClr val="0070C0"/>
                </a:solidFill>
                <a:latin typeface="Courier New" panose="02070309020205020404" pitchFamily="49" charset="0"/>
                <a:cs typeface="Courier New" panose="02070309020205020404" pitchFamily="49" charset="0"/>
              </a:rPr>
              <a:t>roscore</a:t>
            </a:r>
            <a:endParaRPr lang="en-US" sz="2200" dirty="0">
              <a:solidFill>
                <a:srgbClr val="0070C0"/>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E0056553-55E0-490D-911C-CCAE171F7E46}"/>
              </a:ext>
            </a:extLst>
          </p:cNvPr>
          <p:cNvSpPr>
            <a:spLocks noGrp="1"/>
          </p:cNvSpPr>
          <p:nvPr>
            <p:ph type="sldNum" sz="quarter" idx="12"/>
          </p:nvPr>
        </p:nvSpPr>
        <p:spPr/>
        <p:txBody>
          <a:bodyPr/>
          <a:lstStyle/>
          <a:p>
            <a:fld id="{3957FE44-DABC-424D-A234-74BB9410FF27}" type="slidenum">
              <a:rPr lang="en-US" smtClean="0"/>
              <a:pPr/>
              <a:t>13</a:t>
            </a:fld>
            <a:endParaRPr lang="en-US" dirty="0"/>
          </a:p>
        </p:txBody>
      </p:sp>
      <p:pic>
        <p:nvPicPr>
          <p:cNvPr id="4098" name="Picture 2">
            <a:extLst>
              <a:ext uri="{FF2B5EF4-FFF2-40B4-BE49-F238E27FC236}">
                <a16:creationId xmlns:a16="http://schemas.microsoft.com/office/drawing/2014/main" id="{61BB37D5-3264-4D60-B4E6-9FA57A3DB7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1809" y="2695575"/>
            <a:ext cx="5357191" cy="25178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57200" y="6469028"/>
            <a:ext cx="3187091" cy="307777"/>
          </a:xfrm>
          <a:prstGeom prst="rect">
            <a:avLst/>
          </a:prstGeom>
        </p:spPr>
        <p:txBody>
          <a:bodyPr wrap="none">
            <a:spAutoFit/>
          </a:bodyPr>
          <a:lstStyle/>
          <a:p>
            <a:r>
              <a:rPr lang="en-US" sz="1400" b="1" dirty="0"/>
              <a:t>More detail:</a:t>
            </a:r>
            <a:r>
              <a:rPr lang="en-US" sz="1400" i="1" dirty="0">
                <a:solidFill>
                  <a:srgbClr val="0070C0"/>
                </a:solidFill>
              </a:rPr>
              <a:t> http://wiki.ros.org/Master</a:t>
            </a:r>
          </a:p>
        </p:txBody>
      </p:sp>
      <p:sp>
        <p:nvSpPr>
          <p:cNvPr id="7" name="TextBox 6"/>
          <p:cNvSpPr txBox="1"/>
          <p:nvPr/>
        </p:nvSpPr>
        <p:spPr>
          <a:xfrm>
            <a:off x="5257800" y="2716547"/>
            <a:ext cx="1676400" cy="430887"/>
          </a:xfrm>
          <a:prstGeom prst="rect">
            <a:avLst/>
          </a:prstGeom>
          <a:solidFill>
            <a:schemeClr val="bg1"/>
          </a:solidFill>
        </p:spPr>
        <p:txBody>
          <a:bodyPr wrap="square" rtlCol="0">
            <a:spAutoFit/>
          </a:bodyPr>
          <a:lstStyle/>
          <a:p>
            <a:r>
              <a:rPr lang="en-US" sz="1100" dirty="0"/>
              <a:t>Local host: 1234 is publishing  /topic</a:t>
            </a:r>
          </a:p>
        </p:txBody>
      </p:sp>
      <p:sp>
        <p:nvSpPr>
          <p:cNvPr id="9" name="TextBox 8"/>
          <p:cNvSpPr txBox="1"/>
          <p:nvPr/>
        </p:nvSpPr>
        <p:spPr>
          <a:xfrm>
            <a:off x="5181600" y="3505200"/>
            <a:ext cx="1295400" cy="430887"/>
          </a:xfrm>
          <a:prstGeom prst="rect">
            <a:avLst/>
          </a:prstGeom>
          <a:solidFill>
            <a:schemeClr val="bg1"/>
          </a:solidFill>
        </p:spPr>
        <p:txBody>
          <a:bodyPr wrap="square" rtlCol="0">
            <a:spAutoFit/>
          </a:bodyPr>
          <a:lstStyle/>
          <a:p>
            <a:r>
              <a:rPr lang="en-US" sz="1100" dirty="0"/>
              <a:t>Subscribing to /topic</a:t>
            </a:r>
          </a:p>
        </p:txBody>
      </p:sp>
    </p:spTree>
    <p:extLst>
      <p:ext uri="{BB962C8B-B14F-4D97-AF65-F5344CB8AC3E}">
        <p14:creationId xmlns:p14="http://schemas.microsoft.com/office/powerpoint/2010/main" val="298114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Nodes</a:t>
            </a:r>
            <a:endParaRPr lang="en-US" dirty="0"/>
          </a:p>
        </p:txBody>
      </p:sp>
      <p:sp>
        <p:nvSpPr>
          <p:cNvPr id="3" name="Content Placeholder 2"/>
          <p:cNvSpPr>
            <a:spLocks noGrp="1"/>
          </p:cNvSpPr>
          <p:nvPr>
            <p:ph idx="1"/>
          </p:nvPr>
        </p:nvSpPr>
        <p:spPr/>
        <p:txBody>
          <a:bodyPr/>
          <a:lstStyle/>
          <a:p>
            <a:r>
              <a:rPr lang="en-US" dirty="0"/>
              <a:t>ROS Node is a single purpose, executable program</a:t>
            </a:r>
          </a:p>
          <a:p>
            <a:r>
              <a:rPr lang="en-US" dirty="0"/>
              <a:t>Each node is individually compiled, executed and managed</a:t>
            </a:r>
          </a:p>
          <a:p>
            <a:r>
              <a:rPr lang="en-US" dirty="0"/>
              <a:t>Node is organized in packages</a:t>
            </a:r>
          </a:p>
        </p:txBody>
      </p:sp>
      <p:sp>
        <p:nvSpPr>
          <p:cNvPr id="4" name="Slide Number Placeholder 3"/>
          <p:cNvSpPr>
            <a:spLocks noGrp="1"/>
          </p:cNvSpPr>
          <p:nvPr>
            <p:ph type="sldNum" sz="quarter" idx="12"/>
          </p:nvPr>
        </p:nvSpPr>
        <p:spPr/>
        <p:txBody>
          <a:bodyPr/>
          <a:lstStyle/>
          <a:p>
            <a:fld id="{3957FE44-DABC-424D-A234-74BB9410FF27}" type="slidenum">
              <a:rPr lang="en-US" smtClean="0"/>
              <a:pPr/>
              <a:t>14</a:t>
            </a:fld>
            <a:endParaRPr lang="en-US" dirty="0"/>
          </a:p>
        </p:txBody>
      </p:sp>
      <p:sp>
        <p:nvSpPr>
          <p:cNvPr id="5" name="Rectangle 4"/>
          <p:cNvSpPr/>
          <p:nvPr/>
        </p:nvSpPr>
        <p:spPr>
          <a:xfrm>
            <a:off x="7177131" y="5797113"/>
            <a:ext cx="2866938" cy="646331"/>
          </a:xfrm>
          <a:prstGeom prst="rect">
            <a:avLst/>
          </a:prstGeom>
        </p:spPr>
        <p:txBody>
          <a:bodyPr wrap="square">
            <a:spAutoFit/>
          </a:bodyPr>
          <a:lstStyle/>
          <a:p>
            <a:r>
              <a:rPr lang="en-US" sz="1200" b="1" i="1" dirty="0"/>
              <a:t>More detail</a:t>
            </a:r>
            <a:endParaRPr lang="en-US" sz="1200" b="1" i="1" dirty="0">
              <a:hlinkClick r:id="rId3"/>
            </a:endParaRPr>
          </a:p>
          <a:p>
            <a:r>
              <a:rPr lang="en-US" sz="1200" i="1" dirty="0">
                <a:solidFill>
                  <a:srgbClr val="0099FF"/>
                </a:solidFill>
              </a:rPr>
              <a:t>http://wiki.ros.org/Nodes</a:t>
            </a:r>
          </a:p>
          <a:p>
            <a:r>
              <a:rPr lang="en-US" sz="1200" i="1" dirty="0">
                <a:solidFill>
                  <a:srgbClr val="0099FF"/>
                </a:solidFill>
              </a:rPr>
              <a:t>http://wiki.ros.org/rosnode</a:t>
            </a:r>
            <a:endParaRPr lang="en-US" sz="1100" i="1" dirty="0"/>
          </a:p>
        </p:txBody>
      </p:sp>
      <p:pic>
        <p:nvPicPr>
          <p:cNvPr id="4098" name="Picture 2" descr="https://roboticsbackend.com/wp-content/uploads/2018/12/ros_node_00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3507049"/>
            <a:ext cx="3733800" cy="2290064"/>
          </a:xfrm>
          <a:prstGeom prst="rect">
            <a:avLst/>
          </a:prstGeom>
          <a:noFill/>
          <a:ln>
            <a:solidFill>
              <a:schemeClr val="bg2">
                <a:lumMod val="50000"/>
              </a:schemeClr>
            </a:solidFill>
          </a:ln>
          <a:extLst>
            <a:ext uri="{909E8E84-426E-40DD-AFC4-6F175D3DCCD1}">
              <a14:hiddenFill xmlns:a14="http://schemas.microsoft.com/office/drawing/2010/main">
                <a:solidFill>
                  <a:srgbClr val="FFFFFF"/>
                </a:solidFill>
              </a14:hiddenFill>
            </a:ext>
          </a:extLst>
        </p:spPr>
      </p:pic>
      <p:sp>
        <p:nvSpPr>
          <p:cNvPr id="6" name="Rectangle 5"/>
          <p:cNvSpPr/>
          <p:nvPr/>
        </p:nvSpPr>
        <p:spPr>
          <a:xfrm>
            <a:off x="1981200" y="5884137"/>
            <a:ext cx="4295513" cy="584775"/>
          </a:xfrm>
          <a:prstGeom prst="rect">
            <a:avLst/>
          </a:prstGeom>
        </p:spPr>
        <p:txBody>
          <a:bodyPr wrap="square">
            <a:spAutoFit/>
          </a:bodyPr>
          <a:lstStyle/>
          <a:p>
            <a:pPr algn="ctr"/>
            <a:r>
              <a:rPr lang="en-US" sz="1600" b="1" dirty="0">
                <a:solidFill>
                  <a:srgbClr val="3A3A3A"/>
                </a:solidFill>
                <a:latin typeface="Arial" panose="020B0604020202020204" pitchFamily="34" charset="0"/>
                <a:cs typeface="Arial" panose="020B0604020202020204" pitchFamily="34" charset="0"/>
              </a:rPr>
              <a:t>ROS nodes for a mobile robot controlled by a camera</a:t>
            </a:r>
            <a:endParaRPr lang="en-US" sz="1600" b="1" i="0" dirty="0">
              <a:solidFill>
                <a:srgbClr val="3A3A3A"/>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392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Nodes</a:t>
            </a:r>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15</a:t>
            </a:fld>
            <a:endParaRPr lang="en-US" dirty="0"/>
          </a:p>
        </p:txBody>
      </p:sp>
      <p:pic>
        <p:nvPicPr>
          <p:cNvPr id="5122" name="Picture 2" descr="What is a ROS node ?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76400"/>
            <a:ext cx="4318000" cy="2590801"/>
          </a:xfrm>
          <a:prstGeom prst="rect">
            <a:avLst/>
          </a:prstGeom>
          <a:noFill/>
          <a:ln>
            <a:solidFill>
              <a:schemeClr val="bg2">
                <a:lumMod val="50000"/>
              </a:schemeClr>
            </a:solidFill>
          </a:ln>
          <a:extLst>
            <a:ext uri="{909E8E84-426E-40DD-AFC4-6F175D3DCCD1}">
              <a14:hiddenFill xmlns:a14="http://schemas.microsoft.com/office/drawing/2010/main">
                <a:solidFill>
                  <a:srgbClr val="FFFFFF"/>
                </a:solidFill>
              </a14:hiddenFill>
            </a:ext>
          </a:extLst>
        </p:spPr>
      </p:pic>
      <p:pic>
        <p:nvPicPr>
          <p:cNvPr id="5124" name="Picture 4" descr="What is a ROS node ?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1966" y="2514600"/>
            <a:ext cx="4610420" cy="2743201"/>
          </a:xfrm>
          <a:prstGeom prst="rect">
            <a:avLst/>
          </a:prstGeom>
          <a:noFill/>
          <a:ln>
            <a:solidFill>
              <a:schemeClr val="bg2">
                <a:lumMod val="50000"/>
              </a:schemeClr>
            </a:solidFill>
          </a:ln>
          <a:extLst>
            <a:ext uri="{909E8E84-426E-40DD-AFC4-6F175D3DCCD1}">
              <a14:hiddenFill xmlns:a14="http://schemas.microsoft.com/office/drawing/2010/main">
                <a:solidFill>
                  <a:srgbClr val="FFFFFF"/>
                </a:solidFill>
              </a14:hiddenFill>
            </a:ext>
          </a:extLst>
        </p:spPr>
      </p:pic>
      <p:pic>
        <p:nvPicPr>
          <p:cNvPr id="5126" name="Picture 6" descr="What is a ROS node ?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7600" y="3276600"/>
            <a:ext cx="4623372" cy="2743201"/>
          </a:xfrm>
          <a:prstGeom prst="rect">
            <a:avLst/>
          </a:prstGeom>
          <a:noFill/>
          <a:ln>
            <a:solidFill>
              <a:schemeClr val="bg2">
                <a:lumMod val="50000"/>
              </a:schemeClr>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29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Topics</a:t>
            </a:r>
            <a:endParaRPr lang="en-US" dirty="0"/>
          </a:p>
        </p:txBody>
      </p:sp>
      <p:sp>
        <p:nvSpPr>
          <p:cNvPr id="3" name="Content Placeholder 2"/>
          <p:cNvSpPr>
            <a:spLocks noGrp="1"/>
          </p:cNvSpPr>
          <p:nvPr>
            <p:ph idx="1"/>
          </p:nvPr>
        </p:nvSpPr>
        <p:spPr/>
        <p:txBody>
          <a:bodyPr/>
          <a:lstStyle/>
          <a:p>
            <a:r>
              <a:rPr lang="en-US" dirty="0"/>
              <a:t>Topic is a named bus for a stream of messages</a:t>
            </a:r>
          </a:p>
          <a:p>
            <a:r>
              <a:rPr lang="en-US" dirty="0"/>
              <a:t>Topics are intended for </a:t>
            </a:r>
            <a:r>
              <a:rPr lang="en-US" b="1" dirty="0">
                <a:solidFill>
                  <a:srgbClr val="0070C0"/>
                </a:solidFill>
              </a:rPr>
              <a:t>unidirectional</a:t>
            </a:r>
          </a:p>
          <a:p>
            <a:r>
              <a:rPr lang="en-US" dirty="0"/>
              <a:t>Nodes communicate over topics</a:t>
            </a:r>
          </a:p>
          <a:p>
            <a:r>
              <a:rPr lang="en-US" dirty="0"/>
              <a:t>All nodes publishing or subscribing to a topic must have the </a:t>
            </a:r>
            <a:r>
              <a:rPr lang="en-US" b="1" dirty="0">
                <a:solidFill>
                  <a:srgbClr val="0070C0"/>
                </a:solidFill>
              </a:rPr>
              <a:t>same data type </a:t>
            </a:r>
            <a:r>
              <a:rPr lang="en-US" dirty="0"/>
              <a:t>which is given by the topic.</a:t>
            </a:r>
          </a:p>
        </p:txBody>
      </p:sp>
      <p:sp>
        <p:nvSpPr>
          <p:cNvPr id="4" name="Slide Number Placeholder 3"/>
          <p:cNvSpPr>
            <a:spLocks noGrp="1"/>
          </p:cNvSpPr>
          <p:nvPr>
            <p:ph type="sldNum" sz="quarter" idx="12"/>
          </p:nvPr>
        </p:nvSpPr>
        <p:spPr/>
        <p:txBody>
          <a:bodyPr/>
          <a:lstStyle/>
          <a:p>
            <a:fld id="{3957FE44-DABC-424D-A234-74BB9410FF27}" type="slidenum">
              <a:rPr lang="en-US" smtClean="0"/>
              <a:pPr/>
              <a:t>16</a:t>
            </a:fld>
            <a:endParaRPr lang="en-US" dirty="0"/>
          </a:p>
        </p:txBody>
      </p:sp>
      <p:sp>
        <p:nvSpPr>
          <p:cNvPr id="5" name="Rectangle 4"/>
          <p:cNvSpPr/>
          <p:nvPr/>
        </p:nvSpPr>
        <p:spPr>
          <a:xfrm>
            <a:off x="7177131" y="5797113"/>
            <a:ext cx="2866938" cy="646331"/>
          </a:xfrm>
          <a:prstGeom prst="rect">
            <a:avLst/>
          </a:prstGeom>
        </p:spPr>
        <p:txBody>
          <a:bodyPr wrap="square">
            <a:spAutoFit/>
          </a:bodyPr>
          <a:lstStyle/>
          <a:p>
            <a:r>
              <a:rPr lang="en-US" sz="1200" b="1" i="1" dirty="0"/>
              <a:t>More detail</a:t>
            </a:r>
            <a:endParaRPr lang="en-US" sz="1200" b="1" i="1" dirty="0">
              <a:hlinkClick r:id="rId2"/>
            </a:endParaRPr>
          </a:p>
          <a:p>
            <a:r>
              <a:rPr lang="en-US" sz="1200" i="1" dirty="0">
                <a:solidFill>
                  <a:srgbClr val="0099FF"/>
                </a:solidFill>
              </a:rPr>
              <a:t>http://wiki.ros.org/Topics</a:t>
            </a:r>
          </a:p>
          <a:p>
            <a:r>
              <a:rPr lang="en-US" sz="1200" i="1" dirty="0">
                <a:solidFill>
                  <a:srgbClr val="0099FF"/>
                </a:solidFill>
              </a:rPr>
              <a:t>http://wiki.ros.org/rostopic</a:t>
            </a:r>
            <a:endParaRPr lang="en-US" sz="1100" i="1" dirty="0"/>
          </a:p>
        </p:txBody>
      </p:sp>
      <p:pic>
        <p:nvPicPr>
          <p:cNvPr id="6" name="Picture 5"/>
          <p:cNvPicPr>
            <a:picLocks noChangeAspect="1"/>
          </p:cNvPicPr>
          <p:nvPr/>
        </p:nvPicPr>
        <p:blipFill>
          <a:blip r:embed="rId3"/>
          <a:stretch>
            <a:fillRect/>
          </a:stretch>
        </p:blipFill>
        <p:spPr>
          <a:xfrm>
            <a:off x="2590800" y="3964923"/>
            <a:ext cx="3657600" cy="2442169"/>
          </a:xfrm>
          <a:prstGeom prst="rect">
            <a:avLst/>
          </a:prstGeom>
        </p:spPr>
      </p:pic>
    </p:spTree>
    <p:extLst>
      <p:ext uri="{BB962C8B-B14F-4D97-AF65-F5344CB8AC3E}">
        <p14:creationId xmlns:p14="http://schemas.microsoft.com/office/powerpoint/2010/main" val="2611614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Messages</a:t>
            </a:r>
          </a:p>
        </p:txBody>
      </p:sp>
      <p:sp>
        <p:nvSpPr>
          <p:cNvPr id="3" name="Content Placeholder 2"/>
          <p:cNvSpPr>
            <a:spLocks noGrp="1"/>
          </p:cNvSpPr>
          <p:nvPr>
            <p:ph idx="1"/>
          </p:nvPr>
        </p:nvSpPr>
        <p:spPr/>
        <p:txBody>
          <a:bodyPr/>
          <a:lstStyle/>
          <a:p>
            <a:r>
              <a:rPr lang="en-US" dirty="0"/>
              <a:t>Message is a data structure defining the type of a topic</a:t>
            </a:r>
          </a:p>
          <a:p>
            <a:r>
              <a:rPr lang="en-US" dirty="0"/>
              <a:t>Compromised of a nested structure of integers, floats, string…</a:t>
            </a:r>
          </a:p>
          <a:p>
            <a:r>
              <a:rPr lang="en-US" dirty="0"/>
              <a:t>Message is defined in *.</a:t>
            </a:r>
            <a:r>
              <a:rPr lang="en-US" dirty="0" err="1"/>
              <a:t>msg</a:t>
            </a:r>
            <a:r>
              <a:rPr lang="en-US" dirty="0"/>
              <a:t> files</a:t>
            </a:r>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17</a:t>
            </a:fld>
            <a:endParaRPr lang="en-US" dirty="0"/>
          </a:p>
        </p:txBody>
      </p:sp>
      <p:sp>
        <p:nvSpPr>
          <p:cNvPr id="5" name="Rectangle 4"/>
          <p:cNvSpPr/>
          <p:nvPr/>
        </p:nvSpPr>
        <p:spPr>
          <a:xfrm>
            <a:off x="7086600" y="5825076"/>
            <a:ext cx="2866938" cy="646331"/>
          </a:xfrm>
          <a:prstGeom prst="rect">
            <a:avLst/>
          </a:prstGeom>
        </p:spPr>
        <p:txBody>
          <a:bodyPr wrap="square">
            <a:spAutoFit/>
          </a:bodyPr>
          <a:lstStyle/>
          <a:p>
            <a:r>
              <a:rPr lang="en-US" sz="1200" b="1" i="1" dirty="0"/>
              <a:t>More detail</a:t>
            </a:r>
            <a:endParaRPr lang="en-US" sz="1200" b="1" i="1" dirty="0">
              <a:hlinkClick r:id="rId2"/>
            </a:endParaRPr>
          </a:p>
          <a:p>
            <a:r>
              <a:rPr lang="en-US" sz="1200" i="1" dirty="0">
                <a:solidFill>
                  <a:srgbClr val="0099FF"/>
                </a:solidFill>
              </a:rPr>
              <a:t>http://wiki.ros.org/Messages</a:t>
            </a:r>
          </a:p>
          <a:p>
            <a:r>
              <a:rPr lang="en-US" sz="1200" i="1" dirty="0">
                <a:solidFill>
                  <a:srgbClr val="0099FF"/>
                </a:solidFill>
              </a:rPr>
              <a:t>http://wiki.ros.org/rosmsg</a:t>
            </a:r>
            <a:endParaRPr lang="en-US" sz="1100" i="1" dirty="0"/>
          </a:p>
        </p:txBody>
      </p:sp>
      <p:pic>
        <p:nvPicPr>
          <p:cNvPr id="6" name="Picture 5"/>
          <p:cNvPicPr>
            <a:picLocks noChangeAspect="1"/>
          </p:cNvPicPr>
          <p:nvPr/>
        </p:nvPicPr>
        <p:blipFill>
          <a:blip r:embed="rId3"/>
          <a:stretch>
            <a:fillRect/>
          </a:stretch>
        </p:blipFill>
        <p:spPr>
          <a:xfrm>
            <a:off x="1561750" y="3355443"/>
            <a:ext cx="4267200" cy="3502557"/>
          </a:xfrm>
          <a:prstGeom prst="rect">
            <a:avLst/>
          </a:prstGeom>
        </p:spPr>
      </p:pic>
    </p:spTree>
    <p:extLst>
      <p:ext uri="{BB962C8B-B14F-4D97-AF65-F5344CB8AC3E}">
        <p14:creationId xmlns:p14="http://schemas.microsoft.com/office/powerpoint/2010/main" val="3855162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Service</a:t>
            </a:r>
          </a:p>
        </p:txBody>
      </p:sp>
      <p:sp>
        <p:nvSpPr>
          <p:cNvPr id="3" name="Content Placeholder 2"/>
          <p:cNvSpPr>
            <a:spLocks noGrp="1"/>
          </p:cNvSpPr>
          <p:nvPr>
            <p:ph idx="1"/>
          </p:nvPr>
        </p:nvSpPr>
        <p:spPr/>
        <p:txBody>
          <a:bodyPr/>
          <a:lstStyle/>
          <a:p>
            <a:r>
              <a:rPr lang="en-US" dirty="0"/>
              <a:t>Service is a flexible communication paradigm that support request/ reply interaction</a:t>
            </a:r>
          </a:p>
          <a:p>
            <a:r>
              <a:rPr lang="en-US" dirty="0"/>
              <a:t>Service are intended for </a:t>
            </a:r>
            <a:r>
              <a:rPr lang="en-US" b="1" dirty="0">
                <a:solidFill>
                  <a:srgbClr val="0070C0"/>
                </a:solidFill>
              </a:rPr>
              <a:t>bidirectional</a:t>
            </a:r>
          </a:p>
          <a:p>
            <a:r>
              <a:rPr lang="en-US" i="1" dirty="0"/>
              <a:t>Service</a:t>
            </a:r>
            <a:r>
              <a:rPr lang="en-US" dirty="0"/>
              <a:t> defined by a pair of messages </a:t>
            </a:r>
          </a:p>
          <a:p>
            <a:pPr lvl="1"/>
            <a:r>
              <a:rPr lang="en-US" dirty="0"/>
              <a:t>one for the request </a:t>
            </a:r>
          </a:p>
          <a:p>
            <a:pPr lvl="1"/>
            <a:r>
              <a:rPr lang="en-US" dirty="0"/>
              <a:t>one for the reply</a:t>
            </a:r>
            <a:endParaRPr lang="en-US" b="1" dirty="0">
              <a:solidFill>
                <a:srgbClr val="0070C0"/>
              </a:solidFill>
            </a:endParaRPr>
          </a:p>
          <a:p>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18</a:t>
            </a:fld>
            <a:endParaRPr lang="en-US" dirty="0"/>
          </a:p>
        </p:txBody>
      </p:sp>
      <p:sp>
        <p:nvSpPr>
          <p:cNvPr id="5" name="Rectangle 4"/>
          <p:cNvSpPr/>
          <p:nvPr/>
        </p:nvSpPr>
        <p:spPr>
          <a:xfrm>
            <a:off x="7177131" y="5797113"/>
            <a:ext cx="2866938" cy="646331"/>
          </a:xfrm>
          <a:prstGeom prst="rect">
            <a:avLst/>
          </a:prstGeom>
        </p:spPr>
        <p:txBody>
          <a:bodyPr wrap="square">
            <a:spAutoFit/>
          </a:bodyPr>
          <a:lstStyle/>
          <a:p>
            <a:r>
              <a:rPr lang="en-US" sz="1200" b="1" i="1" dirty="0"/>
              <a:t>More detail</a:t>
            </a:r>
            <a:endParaRPr lang="en-US" sz="1200" b="1" i="1" dirty="0">
              <a:hlinkClick r:id="rId2"/>
            </a:endParaRPr>
          </a:p>
          <a:p>
            <a:r>
              <a:rPr lang="en-US" sz="1200" i="1" dirty="0">
                <a:solidFill>
                  <a:srgbClr val="0099FF"/>
                </a:solidFill>
              </a:rPr>
              <a:t>http://wiki.ros.org/Sevices</a:t>
            </a:r>
          </a:p>
          <a:p>
            <a:r>
              <a:rPr lang="en-US" sz="1200" i="1" dirty="0">
                <a:solidFill>
                  <a:srgbClr val="0099FF"/>
                </a:solidFill>
              </a:rPr>
              <a:t>http://wiki.ros.org/rossrv</a:t>
            </a:r>
            <a:endParaRPr lang="en-US" sz="1100" i="1" dirty="0"/>
          </a:p>
        </p:txBody>
      </p:sp>
      <p:pic>
        <p:nvPicPr>
          <p:cNvPr id="7170" name="Picture 2" descr="text/ROS/MinOverview - Akihiko's Tech No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4122970"/>
            <a:ext cx="3886200" cy="2542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5763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ROS Launch</a:t>
            </a:r>
          </a:p>
        </p:txBody>
      </p:sp>
      <p:sp>
        <p:nvSpPr>
          <p:cNvPr id="3" name="Content Placeholder 2"/>
          <p:cNvSpPr>
            <a:spLocks noGrp="1"/>
          </p:cNvSpPr>
          <p:nvPr>
            <p:ph idx="1"/>
          </p:nvPr>
        </p:nvSpPr>
        <p:spPr/>
        <p:txBody>
          <a:bodyPr/>
          <a:lstStyle/>
          <a:p>
            <a:r>
              <a:rPr lang="en-US" dirty="0"/>
              <a:t>Launch file is a XML document, which specifies:</a:t>
            </a:r>
          </a:p>
          <a:p>
            <a:pPr lvl="1"/>
            <a:r>
              <a:rPr lang="en-US" dirty="0"/>
              <a:t>Which nodes to execute</a:t>
            </a:r>
          </a:p>
          <a:p>
            <a:pPr lvl="1"/>
            <a:r>
              <a:rPr lang="en-US" dirty="0"/>
              <a:t>Their parameters</a:t>
            </a:r>
          </a:p>
          <a:p>
            <a:pPr lvl="1"/>
            <a:r>
              <a:rPr lang="en-US" dirty="0"/>
              <a:t>What other launch file to include</a:t>
            </a:r>
          </a:p>
          <a:p>
            <a:r>
              <a:rPr lang="en-US" dirty="0"/>
              <a:t>Launch file has .</a:t>
            </a:r>
            <a:r>
              <a:rPr lang="en-US"/>
              <a:t>launch extension</a:t>
            </a:r>
            <a:endParaRPr lang="en-US"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19</a:t>
            </a:fld>
            <a:endParaRPr lang="en-US" dirty="0"/>
          </a:p>
        </p:txBody>
      </p:sp>
      <p:pic>
        <p:nvPicPr>
          <p:cNvPr id="5" name="Picture 4"/>
          <p:cNvPicPr>
            <a:picLocks noChangeAspect="1"/>
          </p:cNvPicPr>
          <p:nvPr/>
        </p:nvPicPr>
        <p:blipFill>
          <a:blip r:embed="rId2"/>
          <a:stretch>
            <a:fillRect/>
          </a:stretch>
        </p:blipFill>
        <p:spPr>
          <a:xfrm>
            <a:off x="800449" y="3528149"/>
            <a:ext cx="7889147" cy="1901227"/>
          </a:xfrm>
          <a:prstGeom prst="rect">
            <a:avLst/>
          </a:prstGeom>
        </p:spPr>
      </p:pic>
      <p:sp>
        <p:nvSpPr>
          <p:cNvPr id="6" name="Rectangle 5"/>
          <p:cNvSpPr/>
          <p:nvPr/>
        </p:nvSpPr>
        <p:spPr>
          <a:xfrm>
            <a:off x="6858000" y="5934234"/>
            <a:ext cx="2866938" cy="461665"/>
          </a:xfrm>
          <a:prstGeom prst="rect">
            <a:avLst/>
          </a:prstGeom>
        </p:spPr>
        <p:txBody>
          <a:bodyPr wrap="square">
            <a:spAutoFit/>
          </a:bodyPr>
          <a:lstStyle/>
          <a:p>
            <a:r>
              <a:rPr lang="en-US" sz="1200" b="1" i="1" dirty="0"/>
              <a:t>More detail</a:t>
            </a:r>
            <a:endParaRPr lang="en-US" sz="1200" b="1" i="1" dirty="0">
              <a:hlinkClick r:id="rId3"/>
            </a:endParaRPr>
          </a:p>
          <a:p>
            <a:r>
              <a:rPr lang="en-US" sz="1200" i="1" dirty="0">
                <a:solidFill>
                  <a:srgbClr val="0099FF"/>
                </a:solidFill>
              </a:rPr>
              <a:t>http://wiki.ros.org/roslaunch</a:t>
            </a:r>
            <a:endParaRPr lang="en-US" sz="1100" i="1" dirty="0"/>
          </a:p>
        </p:txBody>
      </p:sp>
    </p:spTree>
    <p:extLst>
      <p:ext uri="{BB962C8B-B14F-4D97-AF65-F5344CB8AC3E}">
        <p14:creationId xmlns:p14="http://schemas.microsoft.com/office/powerpoint/2010/main" val="3510291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b="1" dirty="0"/>
              <a:t>ROS Example</a:t>
            </a:r>
            <a:endParaRPr lang="en-US" b="1" dirty="0"/>
          </a:p>
        </p:txBody>
      </p:sp>
      <p:sp>
        <p:nvSpPr>
          <p:cNvPr id="4" name="Slide Number Placeholder 3"/>
          <p:cNvSpPr>
            <a:spLocks noGrp="1"/>
          </p:cNvSpPr>
          <p:nvPr>
            <p:ph type="sldNum" sz="quarter" idx="12"/>
          </p:nvPr>
        </p:nvSpPr>
        <p:spPr/>
        <p:txBody>
          <a:bodyPr/>
          <a:lstStyle/>
          <a:p>
            <a:fld id="{3957FE44-DABC-424D-A234-74BB9410FF27}" type="slidenum">
              <a:rPr lang="en-US" smtClean="0"/>
              <a:pPr/>
              <a:t>20</a:t>
            </a:fld>
            <a:endParaRPr lang="en-US" dirty="0"/>
          </a:p>
        </p:txBody>
      </p:sp>
      <p:pic>
        <p:nvPicPr>
          <p:cNvPr id="5" name="Picture 4"/>
          <p:cNvPicPr>
            <a:picLocks noChangeAspect="1"/>
          </p:cNvPicPr>
          <p:nvPr/>
        </p:nvPicPr>
        <p:blipFill>
          <a:blip r:embed="rId2"/>
          <a:stretch>
            <a:fillRect/>
          </a:stretch>
        </p:blipFill>
        <p:spPr>
          <a:xfrm>
            <a:off x="3657856" y="1905000"/>
            <a:ext cx="5069491" cy="3905250"/>
          </a:xfrm>
          <a:prstGeom prst="rect">
            <a:avLst/>
          </a:prstGeom>
        </p:spPr>
      </p:pic>
      <p:pic>
        <p:nvPicPr>
          <p:cNvPr id="7" name="Picture 6"/>
          <p:cNvPicPr>
            <a:picLocks noChangeAspect="1"/>
          </p:cNvPicPr>
          <p:nvPr/>
        </p:nvPicPr>
        <p:blipFill>
          <a:blip r:embed="rId3"/>
          <a:stretch>
            <a:fillRect/>
          </a:stretch>
        </p:blipFill>
        <p:spPr>
          <a:xfrm>
            <a:off x="838200" y="2057400"/>
            <a:ext cx="1198214" cy="1676400"/>
          </a:xfrm>
          <a:prstGeom prst="rect">
            <a:avLst/>
          </a:prstGeom>
        </p:spPr>
      </p:pic>
      <p:pic>
        <p:nvPicPr>
          <p:cNvPr id="8" name="Picture 7"/>
          <p:cNvPicPr>
            <a:picLocks noChangeAspect="1"/>
          </p:cNvPicPr>
          <p:nvPr/>
        </p:nvPicPr>
        <p:blipFill>
          <a:blip r:embed="rId4"/>
          <a:stretch>
            <a:fillRect/>
          </a:stretch>
        </p:blipFill>
        <p:spPr>
          <a:xfrm>
            <a:off x="381000" y="4038601"/>
            <a:ext cx="2531671" cy="2057400"/>
          </a:xfrm>
          <a:prstGeom prst="rect">
            <a:avLst/>
          </a:prstGeom>
        </p:spPr>
      </p:pic>
      <p:sp>
        <p:nvSpPr>
          <p:cNvPr id="10" name="Rectangle 9"/>
          <p:cNvSpPr/>
          <p:nvPr/>
        </p:nvSpPr>
        <p:spPr>
          <a:xfrm>
            <a:off x="3505200" y="5866178"/>
            <a:ext cx="5907947" cy="276999"/>
          </a:xfrm>
          <a:prstGeom prst="rect">
            <a:avLst/>
          </a:prstGeom>
        </p:spPr>
        <p:txBody>
          <a:bodyPr wrap="square">
            <a:spAutoFit/>
          </a:bodyPr>
          <a:lstStyle/>
          <a:p>
            <a:r>
              <a:rPr lang="en-US" sz="1200" i="1" dirty="0">
                <a:solidFill>
                  <a:srgbClr val="0070C0"/>
                </a:solidFill>
              </a:rPr>
              <a:t>https://emanual.robotis.com/docs/en/platform/turtlebot3/autonomous_driving/</a:t>
            </a:r>
          </a:p>
        </p:txBody>
      </p:sp>
      <p:sp>
        <p:nvSpPr>
          <p:cNvPr id="12" name="Rectangle 11"/>
          <p:cNvSpPr/>
          <p:nvPr/>
        </p:nvSpPr>
        <p:spPr>
          <a:xfrm>
            <a:off x="3496112" y="6096001"/>
            <a:ext cx="4572000" cy="276999"/>
          </a:xfrm>
          <a:prstGeom prst="rect">
            <a:avLst/>
          </a:prstGeom>
        </p:spPr>
        <p:txBody>
          <a:bodyPr>
            <a:spAutoFit/>
          </a:bodyPr>
          <a:lstStyle/>
          <a:p>
            <a:r>
              <a:rPr lang="en-US" sz="1200" i="1" dirty="0">
                <a:solidFill>
                  <a:srgbClr val="0070C0"/>
                </a:solidFill>
              </a:rPr>
              <a:t>https://www.youtube.com/watch?v=74NnDkFFGV8</a:t>
            </a:r>
          </a:p>
        </p:txBody>
      </p:sp>
    </p:spTree>
    <p:extLst>
      <p:ext uri="{BB962C8B-B14F-4D97-AF65-F5344CB8AC3E}">
        <p14:creationId xmlns:p14="http://schemas.microsoft.com/office/powerpoint/2010/main" val="3282664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Nodes</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4823" y="1764431"/>
            <a:ext cx="5734354" cy="4876800"/>
          </a:xfrm>
        </p:spPr>
      </p:pic>
      <p:sp>
        <p:nvSpPr>
          <p:cNvPr id="4" name="Slide Number Placeholder 3"/>
          <p:cNvSpPr>
            <a:spLocks noGrp="1"/>
          </p:cNvSpPr>
          <p:nvPr>
            <p:ph type="sldNum" sz="quarter" idx="12"/>
          </p:nvPr>
        </p:nvSpPr>
        <p:spPr/>
        <p:txBody>
          <a:bodyPr/>
          <a:lstStyle/>
          <a:p>
            <a:fld id="{3957FE44-DABC-424D-A234-74BB9410FF27}" type="slidenum">
              <a:rPr lang="en-US" smtClean="0"/>
              <a:pPr/>
              <a:t>21</a:t>
            </a:fld>
            <a:endParaRPr lang="en-US" dirty="0"/>
          </a:p>
        </p:txBody>
      </p:sp>
    </p:spTree>
    <p:extLst>
      <p:ext uri="{BB962C8B-B14F-4D97-AF65-F5344CB8AC3E}">
        <p14:creationId xmlns:p14="http://schemas.microsoft.com/office/powerpoint/2010/main" val="1142183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3957FE44-DABC-424D-A234-74BB9410FF27}" type="slidenum">
              <a:rPr lang="en-US" smtClean="0"/>
              <a:pPr/>
              <a:t>22</a:t>
            </a:fld>
            <a:endParaRPr lang="en-US" dirty="0"/>
          </a:p>
        </p:txBody>
      </p:sp>
      <p:sp>
        <p:nvSpPr>
          <p:cNvPr id="5" name="Rectangle 4">
            <a:extLst>
              <a:ext uri="{FF2B5EF4-FFF2-40B4-BE49-F238E27FC236}">
                <a16:creationId xmlns:a16="http://schemas.microsoft.com/office/drawing/2014/main" id="{5694EC3C-4EA9-47DA-C6DD-AAE787D19692}"/>
              </a:ext>
            </a:extLst>
          </p:cNvPr>
          <p:cNvSpPr/>
          <p:nvPr/>
        </p:nvSpPr>
        <p:spPr>
          <a:xfrm>
            <a:off x="1613497" y="3104973"/>
            <a:ext cx="5917005" cy="923330"/>
          </a:xfrm>
          <a:prstGeom prst="rect">
            <a:avLst/>
          </a:prstGeom>
          <a:noFill/>
        </p:spPr>
        <p:txBody>
          <a:bodyPr wrap="none" lIns="91440" tIns="45720" rIns="91440" bIns="45720">
            <a:spAutoFit/>
          </a:bodyPr>
          <a:lstStyle/>
          <a:p>
            <a:pPr algn="ctr"/>
            <a:r>
              <a:rPr lang="en-US" sz="5400" b="1" cap="none" spc="0">
                <a:ln w="6600">
                  <a:solidFill>
                    <a:schemeClr val="accent2"/>
                  </a:solidFill>
                  <a:prstDash val="solid"/>
                </a:ln>
                <a:solidFill>
                  <a:srgbClr val="FFFFFF"/>
                </a:solidFill>
                <a:effectLst>
                  <a:outerShdw dist="38100" dir="2700000" algn="tl" rotWithShape="0">
                    <a:schemeClr val="accent2"/>
                  </a:outerShdw>
                </a:effectLst>
              </a:rPr>
              <a:t>Define the Robot</a:t>
            </a:r>
          </a:p>
        </p:txBody>
      </p:sp>
    </p:spTree>
    <p:extLst>
      <p:ext uri="{BB962C8B-B14F-4D97-AF65-F5344CB8AC3E}">
        <p14:creationId xmlns:p14="http://schemas.microsoft.com/office/powerpoint/2010/main" val="3452834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098A8-779C-38BD-0AB9-4A620B64D7F8}"/>
              </a:ext>
            </a:extLst>
          </p:cNvPr>
          <p:cNvSpPr>
            <a:spLocks noGrp="1"/>
          </p:cNvSpPr>
          <p:nvPr>
            <p:ph type="title"/>
          </p:nvPr>
        </p:nvSpPr>
        <p:spPr/>
        <p:txBody>
          <a:bodyPr>
            <a:normAutofit fontScale="90000"/>
          </a:bodyPr>
          <a:lstStyle/>
          <a:p>
            <a:r>
              <a:rPr lang="en-US"/>
              <a:t>URDF - Unified Robot Description Format</a:t>
            </a:r>
          </a:p>
        </p:txBody>
      </p:sp>
      <p:sp>
        <p:nvSpPr>
          <p:cNvPr id="3" name="Content Placeholder 2">
            <a:extLst>
              <a:ext uri="{FF2B5EF4-FFF2-40B4-BE49-F238E27FC236}">
                <a16:creationId xmlns:a16="http://schemas.microsoft.com/office/drawing/2014/main" id="{4F683F25-B79D-DD51-848F-BBA40FFAE64C}"/>
              </a:ext>
            </a:extLst>
          </p:cNvPr>
          <p:cNvSpPr>
            <a:spLocks noGrp="1"/>
          </p:cNvSpPr>
          <p:nvPr>
            <p:ph idx="1"/>
          </p:nvPr>
        </p:nvSpPr>
        <p:spPr/>
        <p:txBody>
          <a:bodyPr/>
          <a:lstStyle/>
          <a:p>
            <a:r>
              <a:rPr lang="en-US"/>
              <a:t>Unified Robot Description Format (URDF) is an XML format used to describe all the elements of a robot.</a:t>
            </a:r>
          </a:p>
          <a:p>
            <a:pPr lvl="1"/>
            <a:r>
              <a:rPr lang="en-US"/>
              <a:t>Links and joints</a:t>
            </a:r>
          </a:p>
          <a:p>
            <a:pPr lvl="1"/>
            <a:r>
              <a:rPr lang="en-US"/>
              <a:t>Kinematic, dynamic and visual properties</a:t>
            </a:r>
          </a:p>
          <a:p>
            <a:r>
              <a:rPr lang="en-US"/>
              <a:t>Benefits of URDF:</a:t>
            </a:r>
          </a:p>
          <a:p>
            <a:pPr lvl="1"/>
            <a:r>
              <a:rPr lang="en-US"/>
              <a:t>Simple and standardized</a:t>
            </a:r>
          </a:p>
          <a:p>
            <a:pPr lvl="1"/>
            <a:r>
              <a:rPr lang="en-US"/>
              <a:t>Keep all the physical characteristic in one common place</a:t>
            </a:r>
          </a:p>
          <a:p>
            <a:r>
              <a:rPr lang="en-US"/>
              <a:t>URDF is made up of a few simple structures repeated over and over.</a:t>
            </a:r>
          </a:p>
          <a:p>
            <a:endParaRPr lang="en-US"/>
          </a:p>
        </p:txBody>
      </p:sp>
      <p:sp>
        <p:nvSpPr>
          <p:cNvPr id="4" name="Slide Number Placeholder 3">
            <a:extLst>
              <a:ext uri="{FF2B5EF4-FFF2-40B4-BE49-F238E27FC236}">
                <a16:creationId xmlns:a16="http://schemas.microsoft.com/office/drawing/2014/main" id="{C3D2889A-48C0-E23F-8F90-63D1DAB4183C}"/>
              </a:ext>
            </a:extLst>
          </p:cNvPr>
          <p:cNvSpPr>
            <a:spLocks noGrp="1"/>
          </p:cNvSpPr>
          <p:nvPr>
            <p:ph type="sldNum" sz="quarter" idx="12"/>
          </p:nvPr>
        </p:nvSpPr>
        <p:spPr/>
        <p:txBody>
          <a:bodyPr/>
          <a:lstStyle/>
          <a:p>
            <a:fld id="{3957FE44-DABC-424D-A234-74BB9410FF27}" type="slidenum">
              <a:rPr lang="en-US" smtClean="0"/>
              <a:pPr/>
              <a:t>23</a:t>
            </a:fld>
            <a:endParaRPr lang="en-US" dirty="0"/>
          </a:p>
        </p:txBody>
      </p:sp>
    </p:spTree>
    <p:extLst>
      <p:ext uri="{BB962C8B-B14F-4D97-AF65-F5344CB8AC3E}">
        <p14:creationId xmlns:p14="http://schemas.microsoft.com/office/powerpoint/2010/main" val="2447855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78E80-4CBB-3116-3005-EBB322BD01A0}"/>
              </a:ext>
            </a:extLst>
          </p:cNvPr>
          <p:cNvSpPr>
            <a:spLocks noGrp="1"/>
          </p:cNvSpPr>
          <p:nvPr>
            <p:ph type="title"/>
          </p:nvPr>
        </p:nvSpPr>
        <p:spPr/>
        <p:txBody>
          <a:bodyPr/>
          <a:lstStyle/>
          <a:p>
            <a:r>
              <a:rPr lang="en-US"/>
              <a:t>URDF Components</a:t>
            </a:r>
          </a:p>
        </p:txBody>
      </p:sp>
      <p:sp>
        <p:nvSpPr>
          <p:cNvPr id="3" name="Content Placeholder 2">
            <a:extLst>
              <a:ext uri="{FF2B5EF4-FFF2-40B4-BE49-F238E27FC236}">
                <a16:creationId xmlns:a16="http://schemas.microsoft.com/office/drawing/2014/main" id="{D81187F8-805A-AFF4-C402-EB296AB77FE5}"/>
              </a:ext>
            </a:extLst>
          </p:cNvPr>
          <p:cNvSpPr>
            <a:spLocks noGrp="1"/>
          </p:cNvSpPr>
          <p:nvPr>
            <p:ph idx="1"/>
          </p:nvPr>
        </p:nvSpPr>
        <p:spPr>
          <a:xfrm>
            <a:off x="157683" y="1447800"/>
            <a:ext cx="5500688" cy="4876800"/>
          </a:xfrm>
        </p:spPr>
        <p:txBody>
          <a:bodyPr/>
          <a:lstStyle/>
          <a:p>
            <a:r>
              <a:rPr lang="en-US"/>
              <a:t>URDF consists of:</a:t>
            </a:r>
          </a:p>
          <a:p>
            <a:pPr lvl="1"/>
            <a:r>
              <a:rPr lang="en-US"/>
              <a:t>Link elements: represent the physical components of the robot</a:t>
            </a:r>
          </a:p>
          <a:p>
            <a:pPr lvl="1"/>
            <a:r>
              <a:rPr lang="en-US"/>
              <a:t>Joint elements: represent how one link moves relative to another link</a:t>
            </a:r>
          </a:p>
        </p:txBody>
      </p:sp>
      <p:sp>
        <p:nvSpPr>
          <p:cNvPr id="4" name="Slide Number Placeholder 3">
            <a:extLst>
              <a:ext uri="{FF2B5EF4-FFF2-40B4-BE49-F238E27FC236}">
                <a16:creationId xmlns:a16="http://schemas.microsoft.com/office/drawing/2014/main" id="{E16A3680-5D71-EB68-CB9F-72E2075ABE16}"/>
              </a:ext>
            </a:extLst>
          </p:cNvPr>
          <p:cNvSpPr>
            <a:spLocks noGrp="1"/>
          </p:cNvSpPr>
          <p:nvPr>
            <p:ph type="sldNum" sz="quarter" idx="12"/>
          </p:nvPr>
        </p:nvSpPr>
        <p:spPr/>
        <p:txBody>
          <a:bodyPr/>
          <a:lstStyle/>
          <a:p>
            <a:fld id="{3957FE44-DABC-424D-A234-74BB9410FF27}" type="slidenum">
              <a:rPr lang="en-US" smtClean="0"/>
              <a:pPr/>
              <a:t>24</a:t>
            </a:fld>
            <a:endParaRPr lang="en-US" dirty="0"/>
          </a:p>
        </p:txBody>
      </p:sp>
      <p:sp>
        <p:nvSpPr>
          <p:cNvPr id="5" name="Rectangle 4">
            <a:extLst>
              <a:ext uri="{FF2B5EF4-FFF2-40B4-BE49-F238E27FC236}">
                <a16:creationId xmlns:a16="http://schemas.microsoft.com/office/drawing/2014/main" id="{BD29DEB0-A5E7-F03A-BD24-B551FE280C67}"/>
              </a:ext>
            </a:extLst>
          </p:cNvPr>
          <p:cNvSpPr/>
          <p:nvPr/>
        </p:nvSpPr>
        <p:spPr>
          <a:xfrm>
            <a:off x="990600" y="6246167"/>
            <a:ext cx="2866938" cy="461665"/>
          </a:xfrm>
          <a:prstGeom prst="rect">
            <a:avLst/>
          </a:prstGeom>
        </p:spPr>
        <p:txBody>
          <a:bodyPr wrap="square">
            <a:spAutoFit/>
          </a:bodyPr>
          <a:lstStyle/>
          <a:p>
            <a:r>
              <a:rPr lang="en-US" sz="1200" b="1" i="1" dirty="0"/>
              <a:t>More detail</a:t>
            </a:r>
            <a:endParaRPr lang="en-US" sz="1200" b="1" i="1" dirty="0">
              <a:hlinkClick r:id="rId2"/>
            </a:endParaRPr>
          </a:p>
          <a:p>
            <a:r>
              <a:rPr lang="en-US" sz="1200" i="1">
                <a:solidFill>
                  <a:srgbClr val="0099FF"/>
                </a:solidFill>
              </a:rPr>
              <a:t>http://wiki.ros.org/urdf/XML/model</a:t>
            </a:r>
            <a:endParaRPr lang="en-US" sz="1100" i="1" dirty="0"/>
          </a:p>
        </p:txBody>
      </p:sp>
      <p:pic>
        <p:nvPicPr>
          <p:cNvPr id="1026" name="Picture 2">
            <a:extLst>
              <a:ext uri="{FF2B5EF4-FFF2-40B4-BE49-F238E27FC236}">
                <a16:creationId xmlns:a16="http://schemas.microsoft.com/office/drawing/2014/main" id="{34591F4F-87F2-2130-3178-7057E3E28F3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685" y="3271012"/>
            <a:ext cx="2151062" cy="267258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A397058-083E-ACF7-289A-D4F1ED5258E6}"/>
              </a:ext>
            </a:extLst>
          </p:cNvPr>
          <p:cNvPicPr>
            <a:picLocks noChangeAspect="1"/>
          </p:cNvPicPr>
          <p:nvPr/>
        </p:nvPicPr>
        <p:blipFill>
          <a:blip r:embed="rId4"/>
          <a:stretch>
            <a:fillRect/>
          </a:stretch>
        </p:blipFill>
        <p:spPr>
          <a:xfrm>
            <a:off x="2783397" y="3775937"/>
            <a:ext cx="2497006" cy="1687727"/>
          </a:xfrm>
          <a:prstGeom prst="rect">
            <a:avLst/>
          </a:prstGeom>
          <a:ln>
            <a:solidFill>
              <a:schemeClr val="tx2">
                <a:lumMod val="75000"/>
              </a:schemeClr>
            </a:solidFill>
          </a:ln>
        </p:spPr>
      </p:pic>
      <p:sp>
        <p:nvSpPr>
          <p:cNvPr id="9" name="TextBox 8">
            <a:extLst>
              <a:ext uri="{FF2B5EF4-FFF2-40B4-BE49-F238E27FC236}">
                <a16:creationId xmlns:a16="http://schemas.microsoft.com/office/drawing/2014/main" id="{2A129255-32D3-D70D-FBB8-B490AB0F8190}"/>
              </a:ext>
            </a:extLst>
          </p:cNvPr>
          <p:cNvSpPr txBox="1"/>
          <p:nvPr/>
        </p:nvSpPr>
        <p:spPr>
          <a:xfrm>
            <a:off x="2680895" y="3393020"/>
            <a:ext cx="1371600" cy="338554"/>
          </a:xfrm>
          <a:prstGeom prst="rect">
            <a:avLst/>
          </a:prstGeom>
          <a:noFill/>
        </p:spPr>
        <p:txBody>
          <a:bodyPr wrap="square">
            <a:spAutoFit/>
          </a:bodyPr>
          <a:lstStyle/>
          <a:p>
            <a:r>
              <a:rPr lang="en-US" sz="1600" b="1" i="1"/>
              <a:t>pr2.urdf</a:t>
            </a:r>
            <a:endParaRPr lang="en-US" sz="1600" b="1" i="1" dirty="0">
              <a:hlinkClick r:id="rId2"/>
            </a:endParaRPr>
          </a:p>
        </p:txBody>
      </p:sp>
      <p:pic>
        <p:nvPicPr>
          <p:cNvPr id="13" name="Picture 12">
            <a:extLst>
              <a:ext uri="{FF2B5EF4-FFF2-40B4-BE49-F238E27FC236}">
                <a16:creationId xmlns:a16="http://schemas.microsoft.com/office/drawing/2014/main" id="{B00DFA42-31A6-694D-46DD-D7B5BEF6D778}"/>
              </a:ext>
            </a:extLst>
          </p:cNvPr>
          <p:cNvPicPr>
            <a:picLocks noChangeAspect="1"/>
          </p:cNvPicPr>
          <p:nvPr/>
        </p:nvPicPr>
        <p:blipFill>
          <a:blip r:embed="rId5"/>
          <a:stretch>
            <a:fillRect/>
          </a:stretch>
        </p:blipFill>
        <p:spPr>
          <a:xfrm>
            <a:off x="5695111" y="762000"/>
            <a:ext cx="3245482" cy="3352644"/>
          </a:xfrm>
          <a:prstGeom prst="rect">
            <a:avLst/>
          </a:prstGeom>
          <a:solidFill>
            <a:schemeClr val="accent2"/>
          </a:solidFill>
          <a:ln>
            <a:solidFill>
              <a:schemeClr val="tx2">
                <a:lumMod val="75000"/>
              </a:schemeClr>
            </a:solidFill>
          </a:ln>
        </p:spPr>
      </p:pic>
      <p:pic>
        <p:nvPicPr>
          <p:cNvPr id="15" name="Picture 14">
            <a:extLst>
              <a:ext uri="{FF2B5EF4-FFF2-40B4-BE49-F238E27FC236}">
                <a16:creationId xmlns:a16="http://schemas.microsoft.com/office/drawing/2014/main" id="{C8A1C32B-FECA-97B1-9F2B-D4E5182FF7FD}"/>
              </a:ext>
            </a:extLst>
          </p:cNvPr>
          <p:cNvPicPr>
            <a:picLocks noChangeAspect="1"/>
          </p:cNvPicPr>
          <p:nvPr/>
        </p:nvPicPr>
        <p:blipFill>
          <a:blip r:embed="rId6"/>
          <a:stretch>
            <a:fillRect/>
          </a:stretch>
        </p:blipFill>
        <p:spPr>
          <a:xfrm>
            <a:off x="5709527" y="4818963"/>
            <a:ext cx="3230000" cy="977825"/>
          </a:xfrm>
          <a:prstGeom prst="rect">
            <a:avLst/>
          </a:prstGeom>
          <a:ln>
            <a:solidFill>
              <a:schemeClr val="tx2">
                <a:lumMod val="75000"/>
              </a:schemeClr>
            </a:solidFill>
          </a:ln>
        </p:spPr>
      </p:pic>
      <p:sp>
        <p:nvSpPr>
          <p:cNvPr id="16" name="Arrow: Right 15">
            <a:extLst>
              <a:ext uri="{FF2B5EF4-FFF2-40B4-BE49-F238E27FC236}">
                <a16:creationId xmlns:a16="http://schemas.microsoft.com/office/drawing/2014/main" id="{94AFF0E5-91C8-6A71-A87E-5BF9B568A4A2}"/>
              </a:ext>
            </a:extLst>
          </p:cNvPr>
          <p:cNvSpPr/>
          <p:nvPr/>
        </p:nvSpPr>
        <p:spPr>
          <a:xfrm>
            <a:off x="2130934" y="4302506"/>
            <a:ext cx="541723" cy="3048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352B3C5E-CE9B-09D8-66B4-CE0065925532}"/>
              </a:ext>
            </a:extLst>
          </p:cNvPr>
          <p:cNvCxnSpPr/>
          <p:nvPr/>
        </p:nvCxnSpPr>
        <p:spPr>
          <a:xfrm flipV="1">
            <a:off x="4800600" y="2895600"/>
            <a:ext cx="995749" cy="114299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91422C6-D1CC-EB1E-1D3F-003A77D4D8C4}"/>
              </a:ext>
            </a:extLst>
          </p:cNvPr>
          <p:cNvCxnSpPr>
            <a:cxnSpLocks/>
          </p:cNvCxnSpPr>
          <p:nvPr/>
        </p:nvCxnSpPr>
        <p:spPr>
          <a:xfrm>
            <a:off x="5227634" y="4918930"/>
            <a:ext cx="568715" cy="26267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3095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FD309-48AA-6CFE-D7E3-83A2242E9869}"/>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196150E4-59C6-B315-D54C-E4C7DE1AB4A0}"/>
              </a:ext>
            </a:extLst>
          </p:cNvPr>
          <p:cNvSpPr>
            <a:spLocks noGrp="1"/>
          </p:cNvSpPr>
          <p:nvPr>
            <p:ph idx="1"/>
          </p:nvPr>
        </p:nvSpPr>
        <p:spPr/>
        <p:txBody>
          <a:bodyPr/>
          <a:lstStyle/>
          <a:p>
            <a:r>
              <a:rPr lang="en-US"/>
              <a:t>Identify links and joints of this Robot arm</a:t>
            </a:r>
          </a:p>
        </p:txBody>
      </p:sp>
      <p:sp>
        <p:nvSpPr>
          <p:cNvPr id="4" name="Slide Number Placeholder 3">
            <a:extLst>
              <a:ext uri="{FF2B5EF4-FFF2-40B4-BE49-F238E27FC236}">
                <a16:creationId xmlns:a16="http://schemas.microsoft.com/office/drawing/2014/main" id="{7A953BFF-475B-FD3A-9034-C7F16ED5453A}"/>
              </a:ext>
            </a:extLst>
          </p:cNvPr>
          <p:cNvSpPr>
            <a:spLocks noGrp="1"/>
          </p:cNvSpPr>
          <p:nvPr>
            <p:ph type="sldNum" sz="quarter" idx="12"/>
          </p:nvPr>
        </p:nvSpPr>
        <p:spPr/>
        <p:txBody>
          <a:bodyPr/>
          <a:lstStyle/>
          <a:p>
            <a:fld id="{3957FE44-DABC-424D-A234-74BB9410FF27}" type="slidenum">
              <a:rPr lang="en-US" smtClean="0"/>
              <a:pPr/>
              <a:t>25</a:t>
            </a:fld>
            <a:endParaRPr lang="en-US" dirty="0"/>
          </a:p>
        </p:txBody>
      </p:sp>
      <p:pic>
        <p:nvPicPr>
          <p:cNvPr id="5" name="Visual servoing with Franka robot_720p">
            <a:hlinkClick r:id="" action="ppaction://media"/>
            <a:extLst>
              <a:ext uri="{FF2B5EF4-FFF2-40B4-BE49-F238E27FC236}">
                <a16:creationId xmlns:a16="http://schemas.microsoft.com/office/drawing/2014/main" id="{4C55ED6D-C4DE-002E-1F1B-8EC36390D47C}"/>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362676" y="2286000"/>
            <a:ext cx="6807200" cy="3829050"/>
          </a:xfrm>
          <a:prstGeom prst="rect">
            <a:avLst/>
          </a:prstGeom>
        </p:spPr>
      </p:pic>
    </p:spTree>
    <p:extLst>
      <p:ext uri="{BB962C8B-B14F-4D97-AF65-F5344CB8AC3E}">
        <p14:creationId xmlns:p14="http://schemas.microsoft.com/office/powerpoint/2010/main" val="308464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318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D824B-E84C-AE2D-F1D7-0198C67E83F4}"/>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D1B0C8E8-B90C-07D0-5EE5-9052E3C7DE7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E41A2C3-C103-EB48-4166-C0272116AA6B}"/>
              </a:ext>
            </a:extLst>
          </p:cNvPr>
          <p:cNvSpPr>
            <a:spLocks noGrp="1"/>
          </p:cNvSpPr>
          <p:nvPr>
            <p:ph type="sldNum" sz="quarter" idx="12"/>
          </p:nvPr>
        </p:nvSpPr>
        <p:spPr/>
        <p:txBody>
          <a:bodyPr/>
          <a:lstStyle/>
          <a:p>
            <a:fld id="{3957FE44-DABC-424D-A234-74BB9410FF27}" type="slidenum">
              <a:rPr lang="en-US" smtClean="0"/>
              <a:pPr/>
              <a:t>26</a:t>
            </a:fld>
            <a:endParaRPr lang="en-US" dirty="0"/>
          </a:p>
        </p:txBody>
      </p:sp>
      <p:pic>
        <p:nvPicPr>
          <p:cNvPr id="2050" name="Picture 2">
            <a:extLst>
              <a:ext uri="{FF2B5EF4-FFF2-40B4-BE49-F238E27FC236}">
                <a16:creationId xmlns:a16="http://schemas.microsoft.com/office/drawing/2014/main" id="{7D8DCBB1-9D8C-19CB-B903-B7B368D912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1667" b="19231"/>
          <a:stretch/>
        </p:blipFill>
        <p:spPr bwMode="auto">
          <a:xfrm>
            <a:off x="1263846" y="1371600"/>
            <a:ext cx="6616308" cy="4518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443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ACE66-DE11-34B5-130C-0358F3806A2E}"/>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79B7A4BF-B2E5-EA10-E1B0-702A91F90F40}"/>
              </a:ext>
            </a:extLst>
          </p:cNvPr>
          <p:cNvSpPr>
            <a:spLocks noGrp="1"/>
          </p:cNvSpPr>
          <p:nvPr>
            <p:ph idx="1"/>
          </p:nvPr>
        </p:nvSpPr>
        <p:spPr>
          <a:xfrm>
            <a:off x="457201" y="1487959"/>
            <a:ext cx="5638799" cy="4876800"/>
          </a:xfrm>
        </p:spPr>
        <p:txBody>
          <a:bodyPr>
            <a:normAutofit/>
          </a:bodyPr>
          <a:lstStyle/>
          <a:p>
            <a:pPr marL="0" indent="0">
              <a:buNone/>
            </a:pPr>
            <a:r>
              <a:rPr lang="en-US" b="1"/>
              <a:t>Links</a:t>
            </a:r>
          </a:p>
          <a:p>
            <a:pPr marL="631825" indent="-342900"/>
            <a:r>
              <a:rPr lang="en-US" sz="2000" b="1">
                <a:solidFill>
                  <a:srgbClr val="0070C0"/>
                </a:solidFill>
              </a:rPr>
              <a:t>Visual</a:t>
            </a:r>
            <a:r>
              <a:rPr lang="en-US" sz="2000"/>
              <a:t> - This is visual properties of the link.</a:t>
            </a:r>
          </a:p>
          <a:p>
            <a:pPr marL="906145" lvl="1" indent="-342900"/>
            <a:r>
              <a:rPr lang="en-US" sz="1600" b="1" i="1"/>
              <a:t>Geometry </a:t>
            </a:r>
            <a:r>
              <a:rPr lang="en-US" sz="1600"/>
              <a:t>- box/ cylinder / sphere with size parameters, or a mesh</a:t>
            </a:r>
          </a:p>
          <a:p>
            <a:pPr marL="906145" lvl="1" indent="-342900"/>
            <a:r>
              <a:rPr lang="en-US" sz="1600" b="1" i="1"/>
              <a:t>Origin </a:t>
            </a:r>
            <a:r>
              <a:rPr lang="en-US" sz="1600"/>
              <a:t>- an offset for the geometry so it doesn’t need to be centred around the link origin</a:t>
            </a:r>
          </a:p>
          <a:p>
            <a:pPr marL="906145" lvl="1" indent="-342900"/>
            <a:r>
              <a:rPr lang="en-US" sz="1600" b="1" i="1"/>
              <a:t>Material</a:t>
            </a:r>
            <a:r>
              <a:rPr lang="en-US" sz="1600"/>
              <a:t> - Basically, the colour. </a:t>
            </a:r>
          </a:p>
          <a:p>
            <a:pPr marL="631825" indent="-342900"/>
            <a:r>
              <a:rPr lang="en-US" sz="2000" b="1">
                <a:solidFill>
                  <a:srgbClr val="0070C0"/>
                </a:solidFill>
              </a:rPr>
              <a:t>Inertial</a:t>
            </a:r>
            <a:r>
              <a:rPr lang="en-US" sz="2000"/>
              <a:t> - used for physics calculations, but determines how the link responds to forces. </a:t>
            </a:r>
          </a:p>
          <a:p>
            <a:pPr marL="906145" lvl="1" indent="-342900"/>
            <a:r>
              <a:rPr lang="en-US" sz="1600" b="1" i="1"/>
              <a:t>Mass</a:t>
            </a:r>
            <a:r>
              <a:rPr lang="en-US" sz="1600"/>
              <a:t> - Mass of the link</a:t>
            </a:r>
          </a:p>
          <a:p>
            <a:pPr marL="906145" lvl="1" indent="-342900"/>
            <a:r>
              <a:rPr lang="en-US" sz="1600" b="1" i="1"/>
              <a:t>Origin</a:t>
            </a:r>
            <a:r>
              <a:rPr lang="en-US" sz="1600"/>
              <a:t> - The centre of mass (a.k.a centre of gravity). </a:t>
            </a:r>
          </a:p>
          <a:p>
            <a:pPr marL="906145" lvl="1" indent="-342900"/>
            <a:r>
              <a:rPr lang="en-US" sz="1600" b="1" i="1"/>
              <a:t>Inertia</a:t>
            </a:r>
            <a:r>
              <a:rPr lang="en-US" sz="1600"/>
              <a:t> - The rotational inertia matrix.It describes how the distribution of the mass will affect rotation. </a:t>
            </a:r>
          </a:p>
        </p:txBody>
      </p:sp>
      <p:sp>
        <p:nvSpPr>
          <p:cNvPr id="4" name="Slide Number Placeholder 3">
            <a:extLst>
              <a:ext uri="{FF2B5EF4-FFF2-40B4-BE49-F238E27FC236}">
                <a16:creationId xmlns:a16="http://schemas.microsoft.com/office/drawing/2014/main" id="{32E98C64-6B3B-5A20-6950-3DC49C1D9BFF}"/>
              </a:ext>
            </a:extLst>
          </p:cNvPr>
          <p:cNvSpPr>
            <a:spLocks noGrp="1"/>
          </p:cNvSpPr>
          <p:nvPr>
            <p:ph type="sldNum" sz="quarter" idx="12"/>
          </p:nvPr>
        </p:nvSpPr>
        <p:spPr/>
        <p:txBody>
          <a:bodyPr/>
          <a:lstStyle/>
          <a:p>
            <a:fld id="{3957FE44-DABC-424D-A234-74BB9410FF27}" type="slidenum">
              <a:rPr lang="en-US" smtClean="0"/>
              <a:pPr/>
              <a:t>27</a:t>
            </a:fld>
            <a:endParaRPr lang="en-US" dirty="0"/>
          </a:p>
        </p:txBody>
      </p:sp>
      <p:pic>
        <p:nvPicPr>
          <p:cNvPr id="3074" name="Picture 2">
            <a:extLst>
              <a:ext uri="{FF2B5EF4-FFF2-40B4-BE49-F238E27FC236}">
                <a16:creationId xmlns:a16="http://schemas.microsoft.com/office/drawing/2014/main" id="{163C55C9-86DE-4F63-3812-28B17E773D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32895" y="812006"/>
            <a:ext cx="2568321" cy="14239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69EE132-E758-8D97-53DE-4BA5FD2EE001}"/>
              </a:ext>
            </a:extLst>
          </p:cNvPr>
          <p:cNvSpPr/>
          <p:nvPr/>
        </p:nvSpPr>
        <p:spPr>
          <a:xfrm>
            <a:off x="609600" y="6396335"/>
            <a:ext cx="2866938" cy="461665"/>
          </a:xfrm>
          <a:prstGeom prst="rect">
            <a:avLst/>
          </a:prstGeom>
        </p:spPr>
        <p:txBody>
          <a:bodyPr wrap="square">
            <a:spAutoFit/>
          </a:bodyPr>
          <a:lstStyle/>
          <a:p>
            <a:r>
              <a:rPr lang="en-US" sz="1200" b="1" i="1" dirty="0"/>
              <a:t>More detail</a:t>
            </a:r>
            <a:endParaRPr lang="en-US" sz="1200" b="1" i="1" dirty="0">
              <a:hlinkClick r:id="rId3"/>
            </a:endParaRPr>
          </a:p>
          <a:p>
            <a:r>
              <a:rPr lang="en-US" sz="1200" i="1">
                <a:solidFill>
                  <a:srgbClr val="0099FF"/>
                </a:solidFill>
              </a:rPr>
              <a:t>http://wiki.ros.org/urdf/XML/link</a:t>
            </a:r>
            <a:endParaRPr lang="en-US" sz="1100" i="1" dirty="0"/>
          </a:p>
        </p:txBody>
      </p:sp>
      <p:pic>
        <p:nvPicPr>
          <p:cNvPr id="8" name="Picture 7">
            <a:extLst>
              <a:ext uri="{FF2B5EF4-FFF2-40B4-BE49-F238E27FC236}">
                <a16:creationId xmlns:a16="http://schemas.microsoft.com/office/drawing/2014/main" id="{E5A4FFBD-010E-0339-2480-ECA01486AAD3}"/>
              </a:ext>
            </a:extLst>
          </p:cNvPr>
          <p:cNvPicPr>
            <a:picLocks noChangeAspect="1"/>
          </p:cNvPicPr>
          <p:nvPr/>
        </p:nvPicPr>
        <p:blipFill>
          <a:blip r:embed="rId4"/>
          <a:stretch>
            <a:fillRect/>
          </a:stretch>
        </p:blipFill>
        <p:spPr>
          <a:xfrm>
            <a:off x="6096000" y="2692228"/>
            <a:ext cx="2971799" cy="3352644"/>
          </a:xfrm>
          <a:prstGeom prst="rect">
            <a:avLst/>
          </a:prstGeom>
          <a:solidFill>
            <a:schemeClr val="accent2"/>
          </a:solidFill>
          <a:ln>
            <a:solidFill>
              <a:schemeClr val="tx2">
                <a:lumMod val="75000"/>
              </a:schemeClr>
            </a:solidFill>
          </a:ln>
        </p:spPr>
      </p:pic>
    </p:spTree>
    <p:extLst>
      <p:ext uri="{BB962C8B-B14F-4D97-AF65-F5344CB8AC3E}">
        <p14:creationId xmlns:p14="http://schemas.microsoft.com/office/powerpoint/2010/main" val="3707983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ACE66-DE11-34B5-130C-0358F3806A2E}"/>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79B7A4BF-B2E5-EA10-E1B0-702A91F90F40}"/>
              </a:ext>
            </a:extLst>
          </p:cNvPr>
          <p:cNvSpPr>
            <a:spLocks noGrp="1"/>
          </p:cNvSpPr>
          <p:nvPr>
            <p:ph idx="1"/>
          </p:nvPr>
        </p:nvSpPr>
        <p:spPr>
          <a:xfrm>
            <a:off x="457201" y="1487959"/>
            <a:ext cx="5638799" cy="4876800"/>
          </a:xfrm>
        </p:spPr>
        <p:txBody>
          <a:bodyPr>
            <a:normAutofit/>
          </a:bodyPr>
          <a:lstStyle/>
          <a:p>
            <a:pPr marL="0" indent="0">
              <a:buNone/>
            </a:pPr>
            <a:r>
              <a:rPr lang="en-US" b="1"/>
              <a:t>Links</a:t>
            </a:r>
          </a:p>
          <a:p>
            <a:pPr lvl="1"/>
            <a:r>
              <a:rPr lang="en-US" b="1" i="0">
                <a:solidFill>
                  <a:srgbClr val="0070C0"/>
                </a:solidFill>
                <a:effectLst/>
                <a:latin typeface="Merriweather"/>
              </a:rPr>
              <a:t>Collision</a:t>
            </a:r>
            <a:r>
              <a:rPr lang="en-US" b="0" i="0">
                <a:effectLst/>
                <a:latin typeface="Merriweather"/>
              </a:rPr>
              <a:t> - used for physics collision calculations. </a:t>
            </a:r>
          </a:p>
          <a:p>
            <a:pPr marL="742950" lvl="1" indent="-285750"/>
            <a:r>
              <a:rPr lang="en-US" sz="1600" b="1" i="0">
                <a:effectLst/>
                <a:latin typeface="Merriweather"/>
              </a:rPr>
              <a:t>Geometry</a:t>
            </a:r>
            <a:r>
              <a:rPr lang="en-US" sz="1600" b="0" i="0">
                <a:effectLst/>
                <a:latin typeface="Merriweather"/>
              </a:rPr>
              <a:t> and </a:t>
            </a:r>
            <a:r>
              <a:rPr lang="en-US" sz="1600" b="1" i="0">
                <a:effectLst/>
                <a:latin typeface="Merriweather"/>
              </a:rPr>
              <a:t>Origin</a:t>
            </a:r>
            <a:r>
              <a:rPr lang="en-US" sz="1600" b="0" i="0">
                <a:effectLst/>
                <a:latin typeface="Merriweather"/>
              </a:rPr>
              <a:t> - Same options as for visual. This will often be copy-pasted from the Visual tag.</a:t>
            </a:r>
          </a:p>
        </p:txBody>
      </p:sp>
      <p:sp>
        <p:nvSpPr>
          <p:cNvPr id="4" name="Slide Number Placeholder 3">
            <a:extLst>
              <a:ext uri="{FF2B5EF4-FFF2-40B4-BE49-F238E27FC236}">
                <a16:creationId xmlns:a16="http://schemas.microsoft.com/office/drawing/2014/main" id="{32E98C64-6B3B-5A20-6950-3DC49C1D9BFF}"/>
              </a:ext>
            </a:extLst>
          </p:cNvPr>
          <p:cNvSpPr>
            <a:spLocks noGrp="1"/>
          </p:cNvSpPr>
          <p:nvPr>
            <p:ph type="sldNum" sz="quarter" idx="12"/>
          </p:nvPr>
        </p:nvSpPr>
        <p:spPr/>
        <p:txBody>
          <a:bodyPr/>
          <a:lstStyle/>
          <a:p>
            <a:fld id="{3957FE44-DABC-424D-A234-74BB9410FF27}" type="slidenum">
              <a:rPr lang="en-US" smtClean="0"/>
              <a:pPr/>
              <a:t>28</a:t>
            </a:fld>
            <a:endParaRPr lang="en-US" dirty="0"/>
          </a:p>
        </p:txBody>
      </p:sp>
      <p:pic>
        <p:nvPicPr>
          <p:cNvPr id="3074" name="Picture 2">
            <a:extLst>
              <a:ext uri="{FF2B5EF4-FFF2-40B4-BE49-F238E27FC236}">
                <a16:creationId xmlns:a16="http://schemas.microsoft.com/office/drawing/2014/main" id="{163C55C9-86DE-4F63-3812-28B17E773D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32895" y="812006"/>
            <a:ext cx="2568321" cy="1423988"/>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169EE132-E758-8D97-53DE-4BA5FD2EE001}"/>
              </a:ext>
            </a:extLst>
          </p:cNvPr>
          <p:cNvSpPr/>
          <p:nvPr/>
        </p:nvSpPr>
        <p:spPr>
          <a:xfrm>
            <a:off x="609600" y="6396335"/>
            <a:ext cx="2866938" cy="461665"/>
          </a:xfrm>
          <a:prstGeom prst="rect">
            <a:avLst/>
          </a:prstGeom>
        </p:spPr>
        <p:txBody>
          <a:bodyPr wrap="square">
            <a:spAutoFit/>
          </a:bodyPr>
          <a:lstStyle/>
          <a:p>
            <a:r>
              <a:rPr lang="en-US" sz="1200" b="1" i="1" dirty="0"/>
              <a:t>More detail</a:t>
            </a:r>
            <a:endParaRPr lang="en-US" sz="1200" b="1" i="1" dirty="0">
              <a:hlinkClick r:id="rId3"/>
            </a:endParaRPr>
          </a:p>
          <a:p>
            <a:r>
              <a:rPr lang="en-US" sz="1200" i="1">
                <a:solidFill>
                  <a:srgbClr val="0099FF"/>
                </a:solidFill>
              </a:rPr>
              <a:t>http://wiki.ros.org/urdf/XML/link</a:t>
            </a:r>
            <a:endParaRPr lang="en-US" sz="1100" i="1" dirty="0"/>
          </a:p>
        </p:txBody>
      </p:sp>
      <p:pic>
        <p:nvPicPr>
          <p:cNvPr id="8" name="Picture 7">
            <a:extLst>
              <a:ext uri="{FF2B5EF4-FFF2-40B4-BE49-F238E27FC236}">
                <a16:creationId xmlns:a16="http://schemas.microsoft.com/office/drawing/2014/main" id="{E5A4FFBD-010E-0339-2480-ECA01486AAD3}"/>
              </a:ext>
            </a:extLst>
          </p:cNvPr>
          <p:cNvPicPr>
            <a:picLocks noChangeAspect="1"/>
          </p:cNvPicPr>
          <p:nvPr/>
        </p:nvPicPr>
        <p:blipFill>
          <a:blip r:embed="rId4"/>
          <a:stretch>
            <a:fillRect/>
          </a:stretch>
        </p:blipFill>
        <p:spPr>
          <a:xfrm>
            <a:off x="6096000" y="2692228"/>
            <a:ext cx="2971799" cy="3352644"/>
          </a:xfrm>
          <a:prstGeom prst="rect">
            <a:avLst/>
          </a:prstGeom>
          <a:solidFill>
            <a:schemeClr val="accent2"/>
          </a:solidFill>
          <a:ln>
            <a:solidFill>
              <a:schemeClr val="tx2">
                <a:lumMod val="75000"/>
              </a:schemeClr>
            </a:solidFill>
          </a:ln>
        </p:spPr>
      </p:pic>
    </p:spTree>
    <p:extLst>
      <p:ext uri="{BB962C8B-B14F-4D97-AF65-F5344CB8AC3E}">
        <p14:creationId xmlns:p14="http://schemas.microsoft.com/office/powerpoint/2010/main" val="3241884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72E9-8497-E026-AAF3-1E3FB31EC430}"/>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A1B2070D-40A3-3B32-7F76-EA3780AD60DA}"/>
              </a:ext>
            </a:extLst>
          </p:cNvPr>
          <p:cNvSpPr>
            <a:spLocks noGrp="1"/>
          </p:cNvSpPr>
          <p:nvPr>
            <p:ph idx="1"/>
          </p:nvPr>
        </p:nvSpPr>
        <p:spPr/>
        <p:txBody>
          <a:bodyPr/>
          <a:lstStyle/>
          <a:p>
            <a:pPr marL="0" indent="0">
              <a:buNone/>
            </a:pPr>
            <a:r>
              <a:rPr lang="en-US" b="1"/>
              <a:t>Joints</a:t>
            </a:r>
          </a:p>
        </p:txBody>
      </p:sp>
      <p:sp>
        <p:nvSpPr>
          <p:cNvPr id="4" name="Slide Number Placeholder 3">
            <a:extLst>
              <a:ext uri="{FF2B5EF4-FFF2-40B4-BE49-F238E27FC236}">
                <a16:creationId xmlns:a16="http://schemas.microsoft.com/office/drawing/2014/main" id="{08BF50E6-CAEE-4240-6ED5-CD235296652B}"/>
              </a:ext>
            </a:extLst>
          </p:cNvPr>
          <p:cNvSpPr>
            <a:spLocks noGrp="1"/>
          </p:cNvSpPr>
          <p:nvPr>
            <p:ph type="sldNum" sz="quarter" idx="12"/>
          </p:nvPr>
        </p:nvSpPr>
        <p:spPr/>
        <p:txBody>
          <a:bodyPr/>
          <a:lstStyle/>
          <a:p>
            <a:fld id="{3957FE44-DABC-424D-A234-74BB9410FF27}" type="slidenum">
              <a:rPr lang="en-US" smtClean="0"/>
              <a:pPr/>
              <a:t>29</a:t>
            </a:fld>
            <a:endParaRPr lang="en-US" dirty="0"/>
          </a:p>
        </p:txBody>
      </p:sp>
      <p:pic>
        <p:nvPicPr>
          <p:cNvPr id="4098" name="Picture 2">
            <a:extLst>
              <a:ext uri="{FF2B5EF4-FFF2-40B4-BE49-F238E27FC236}">
                <a16:creationId xmlns:a16="http://schemas.microsoft.com/office/drawing/2014/main" id="{E55E334D-BB23-211C-E1DC-CBADFA89F4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876425"/>
            <a:ext cx="5724525" cy="4600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402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72E9-8497-E026-AAF3-1E3FB31EC430}"/>
              </a:ext>
            </a:extLst>
          </p:cNvPr>
          <p:cNvSpPr>
            <a:spLocks noGrp="1"/>
          </p:cNvSpPr>
          <p:nvPr>
            <p:ph type="title"/>
          </p:nvPr>
        </p:nvSpPr>
        <p:spPr/>
        <p:txBody>
          <a:bodyPr/>
          <a:lstStyle/>
          <a:p>
            <a:r>
              <a:rPr lang="en-US"/>
              <a:t>Links and Joints</a:t>
            </a:r>
          </a:p>
        </p:txBody>
      </p:sp>
      <p:sp>
        <p:nvSpPr>
          <p:cNvPr id="3" name="Content Placeholder 2">
            <a:extLst>
              <a:ext uri="{FF2B5EF4-FFF2-40B4-BE49-F238E27FC236}">
                <a16:creationId xmlns:a16="http://schemas.microsoft.com/office/drawing/2014/main" id="{A1B2070D-40A3-3B32-7F76-EA3780AD60DA}"/>
              </a:ext>
            </a:extLst>
          </p:cNvPr>
          <p:cNvSpPr>
            <a:spLocks noGrp="1"/>
          </p:cNvSpPr>
          <p:nvPr>
            <p:ph idx="1"/>
          </p:nvPr>
        </p:nvSpPr>
        <p:spPr/>
        <p:txBody>
          <a:bodyPr>
            <a:normAutofit lnSpcReduction="10000"/>
          </a:bodyPr>
          <a:lstStyle/>
          <a:p>
            <a:pPr marL="0" indent="0">
              <a:buNone/>
            </a:pPr>
            <a:r>
              <a:rPr lang="en-US" b="1"/>
              <a:t>Joints</a:t>
            </a:r>
            <a:r>
              <a:rPr lang="en-US"/>
              <a:t>: Each joint will need to have the following specified</a:t>
            </a:r>
          </a:p>
          <a:p>
            <a:pPr lvl="1"/>
            <a:r>
              <a:rPr lang="en-US" b="1">
                <a:solidFill>
                  <a:srgbClr val="0070C0"/>
                </a:solidFill>
              </a:rPr>
              <a:t>Name</a:t>
            </a:r>
            <a:r>
              <a:rPr lang="en-US">
                <a:solidFill>
                  <a:srgbClr val="0070C0"/>
                </a:solidFill>
              </a:rPr>
              <a:t> </a:t>
            </a:r>
            <a:r>
              <a:rPr lang="en-US"/>
              <a:t>- A name for the joint. </a:t>
            </a:r>
          </a:p>
          <a:p>
            <a:pPr lvl="1"/>
            <a:r>
              <a:rPr lang="en-US" b="1">
                <a:solidFill>
                  <a:srgbClr val="0070C0"/>
                </a:solidFill>
              </a:rPr>
              <a:t>Type</a:t>
            </a:r>
            <a:r>
              <a:rPr lang="en-US"/>
              <a:t> - joint type, the four most popular being fixed, prismatic, revolute, and continuous.</a:t>
            </a:r>
          </a:p>
          <a:p>
            <a:pPr lvl="1"/>
            <a:r>
              <a:rPr lang="en-US" b="1">
                <a:solidFill>
                  <a:srgbClr val="0070C0"/>
                </a:solidFill>
              </a:rPr>
              <a:t>Parent and child links </a:t>
            </a:r>
            <a:r>
              <a:rPr lang="en-US"/>
              <a:t>- Which links this joint defines a relationship between</a:t>
            </a:r>
          </a:p>
          <a:p>
            <a:pPr lvl="1"/>
            <a:r>
              <a:rPr lang="en-US" b="1">
                <a:solidFill>
                  <a:srgbClr val="0070C0"/>
                </a:solidFill>
              </a:rPr>
              <a:t>Origin</a:t>
            </a:r>
            <a:r>
              <a:rPr lang="en-US"/>
              <a:t> - The relationship between the two links, before any motion is applied</a:t>
            </a:r>
          </a:p>
          <a:p>
            <a:pPr lvl="1"/>
            <a:r>
              <a:rPr lang="en-US" b="1" i="0">
                <a:solidFill>
                  <a:srgbClr val="0070C0"/>
                </a:solidFill>
                <a:effectLst/>
                <a:latin typeface="Merriweather"/>
              </a:rPr>
              <a:t>Axis</a:t>
            </a:r>
            <a:r>
              <a:rPr lang="en-US" b="0" i="0">
                <a:effectLst/>
                <a:latin typeface="Merriweather"/>
              </a:rPr>
              <a:t> - Which axis to move along or around</a:t>
            </a:r>
          </a:p>
          <a:p>
            <a:pPr lvl="1"/>
            <a:r>
              <a:rPr lang="en-US" b="1" i="0">
                <a:solidFill>
                  <a:srgbClr val="0070C0"/>
                </a:solidFill>
                <a:effectLst/>
                <a:latin typeface="Merriweather"/>
              </a:rPr>
              <a:t>Limits</a:t>
            </a:r>
            <a:r>
              <a:rPr lang="en-US" b="0" i="0">
                <a:effectLst/>
                <a:latin typeface="Merriweather"/>
              </a:rPr>
              <a:t> - Physical actuation limits, which may be expected by other parts of the system. These can include:</a:t>
            </a:r>
          </a:p>
          <a:p>
            <a:pPr marL="742950" lvl="1" indent="-285750" algn="l">
              <a:buFont typeface="Arial" panose="020B0604020202020204" pitchFamily="34" charset="0"/>
              <a:buChar char="•"/>
            </a:pPr>
            <a:r>
              <a:rPr lang="en-US" b="1" i="0">
                <a:effectLst/>
                <a:latin typeface="Merriweather"/>
              </a:rPr>
              <a:t>Upper</a:t>
            </a:r>
            <a:r>
              <a:rPr lang="en-US" b="0" i="0">
                <a:effectLst/>
                <a:latin typeface="Merriweather"/>
              </a:rPr>
              <a:t> and </a:t>
            </a:r>
            <a:r>
              <a:rPr lang="en-US" b="1" i="0">
                <a:effectLst/>
                <a:latin typeface="Merriweather"/>
              </a:rPr>
              <a:t>Lower</a:t>
            </a:r>
            <a:r>
              <a:rPr lang="en-US" b="0" i="0">
                <a:effectLst/>
                <a:latin typeface="Merriweather"/>
              </a:rPr>
              <a:t> position limits - in metres/radians</a:t>
            </a:r>
          </a:p>
          <a:p>
            <a:pPr marL="742950" lvl="1" indent="-285750" algn="l">
              <a:buFont typeface="Arial" panose="020B0604020202020204" pitchFamily="34" charset="0"/>
              <a:buChar char="•"/>
            </a:pPr>
            <a:r>
              <a:rPr lang="en-US" b="1" i="0">
                <a:effectLst/>
                <a:latin typeface="Merriweather"/>
              </a:rPr>
              <a:t>Velocity</a:t>
            </a:r>
            <a:r>
              <a:rPr lang="en-US" b="0" i="0">
                <a:effectLst/>
                <a:latin typeface="Merriweather"/>
              </a:rPr>
              <a:t> limits - in m/s or rad/s</a:t>
            </a:r>
          </a:p>
          <a:p>
            <a:pPr marL="742950" lvl="1" indent="-285750" algn="l">
              <a:buFont typeface="Arial" panose="020B0604020202020204" pitchFamily="34" charset="0"/>
              <a:buChar char="•"/>
            </a:pPr>
            <a:r>
              <a:rPr lang="en-US" b="1" i="0">
                <a:effectLst/>
                <a:latin typeface="Merriweather"/>
              </a:rPr>
              <a:t>Effort</a:t>
            </a:r>
            <a:r>
              <a:rPr lang="en-US" b="0" i="0">
                <a:effectLst/>
                <a:latin typeface="Merriweather"/>
              </a:rPr>
              <a:t> limits - in N or Nm</a:t>
            </a:r>
          </a:p>
          <a:p>
            <a:pPr lvl="1"/>
            <a:endParaRPr lang="en-US"/>
          </a:p>
          <a:p>
            <a:pPr lvl="1"/>
            <a:endParaRPr lang="en-US"/>
          </a:p>
        </p:txBody>
      </p:sp>
      <p:sp>
        <p:nvSpPr>
          <p:cNvPr id="4" name="Slide Number Placeholder 3">
            <a:extLst>
              <a:ext uri="{FF2B5EF4-FFF2-40B4-BE49-F238E27FC236}">
                <a16:creationId xmlns:a16="http://schemas.microsoft.com/office/drawing/2014/main" id="{08BF50E6-CAEE-4240-6ED5-CD235296652B}"/>
              </a:ext>
            </a:extLst>
          </p:cNvPr>
          <p:cNvSpPr>
            <a:spLocks noGrp="1"/>
          </p:cNvSpPr>
          <p:nvPr>
            <p:ph type="sldNum" sz="quarter" idx="12"/>
          </p:nvPr>
        </p:nvSpPr>
        <p:spPr/>
        <p:txBody>
          <a:bodyPr/>
          <a:lstStyle/>
          <a:p>
            <a:fld id="{3957FE44-DABC-424D-A234-74BB9410FF27}" type="slidenum">
              <a:rPr lang="en-US" smtClean="0"/>
              <a:pPr/>
              <a:t>30</a:t>
            </a:fld>
            <a:endParaRPr lang="en-US" dirty="0"/>
          </a:p>
        </p:txBody>
      </p:sp>
    </p:spTree>
    <p:extLst>
      <p:ext uri="{BB962C8B-B14F-4D97-AF65-F5344CB8AC3E}">
        <p14:creationId xmlns:p14="http://schemas.microsoft.com/office/powerpoint/2010/main" val="2842637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672E9-8497-E026-AAF3-1E3FB31EC430}"/>
              </a:ext>
            </a:extLst>
          </p:cNvPr>
          <p:cNvSpPr>
            <a:spLocks noGrp="1"/>
          </p:cNvSpPr>
          <p:nvPr>
            <p:ph type="title"/>
          </p:nvPr>
        </p:nvSpPr>
        <p:spPr/>
        <p:txBody>
          <a:bodyPr/>
          <a:lstStyle/>
          <a:p>
            <a:r>
              <a:rPr lang="en-US"/>
              <a:t>Links and Joints</a:t>
            </a:r>
          </a:p>
        </p:txBody>
      </p:sp>
      <p:sp>
        <p:nvSpPr>
          <p:cNvPr id="4" name="Slide Number Placeholder 3">
            <a:extLst>
              <a:ext uri="{FF2B5EF4-FFF2-40B4-BE49-F238E27FC236}">
                <a16:creationId xmlns:a16="http://schemas.microsoft.com/office/drawing/2014/main" id="{08BF50E6-CAEE-4240-6ED5-CD235296652B}"/>
              </a:ext>
            </a:extLst>
          </p:cNvPr>
          <p:cNvSpPr>
            <a:spLocks noGrp="1"/>
          </p:cNvSpPr>
          <p:nvPr>
            <p:ph type="sldNum" sz="quarter" idx="12"/>
          </p:nvPr>
        </p:nvSpPr>
        <p:spPr/>
        <p:txBody>
          <a:bodyPr/>
          <a:lstStyle/>
          <a:p>
            <a:fld id="{3957FE44-DABC-424D-A234-74BB9410FF27}" type="slidenum">
              <a:rPr lang="en-US" smtClean="0"/>
              <a:pPr/>
              <a:t>31</a:t>
            </a:fld>
            <a:endParaRPr lang="en-US" dirty="0"/>
          </a:p>
        </p:txBody>
      </p:sp>
      <p:pic>
        <p:nvPicPr>
          <p:cNvPr id="8" name="Picture 7">
            <a:extLst>
              <a:ext uri="{FF2B5EF4-FFF2-40B4-BE49-F238E27FC236}">
                <a16:creationId xmlns:a16="http://schemas.microsoft.com/office/drawing/2014/main" id="{701B899E-C108-1F92-5F52-6B0193486481}"/>
              </a:ext>
            </a:extLst>
          </p:cNvPr>
          <p:cNvPicPr>
            <a:picLocks noChangeAspect="1"/>
          </p:cNvPicPr>
          <p:nvPr/>
        </p:nvPicPr>
        <p:blipFill>
          <a:blip r:embed="rId2"/>
          <a:stretch>
            <a:fillRect/>
          </a:stretch>
        </p:blipFill>
        <p:spPr>
          <a:xfrm>
            <a:off x="609600" y="2709122"/>
            <a:ext cx="7848600" cy="2202313"/>
          </a:xfrm>
          <a:prstGeom prst="rect">
            <a:avLst/>
          </a:prstGeom>
        </p:spPr>
      </p:pic>
      <p:pic>
        <p:nvPicPr>
          <p:cNvPr id="5123" name="Picture 3">
            <a:extLst>
              <a:ext uri="{FF2B5EF4-FFF2-40B4-BE49-F238E27FC236}">
                <a16:creationId xmlns:a16="http://schemas.microsoft.com/office/drawing/2014/main" id="{D088B5A2-956F-B83E-49D5-59D953E536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1600" y="993689"/>
            <a:ext cx="3074126" cy="2816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0765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2DD66-89C8-5319-5633-65360AA81254}"/>
              </a:ext>
            </a:extLst>
          </p:cNvPr>
          <p:cNvSpPr>
            <a:spLocks noGrp="1"/>
          </p:cNvSpPr>
          <p:nvPr>
            <p:ph type="title"/>
          </p:nvPr>
        </p:nvSpPr>
        <p:spPr/>
        <p:txBody>
          <a:bodyPr/>
          <a:lstStyle/>
          <a:p>
            <a:r>
              <a:rPr lang="en-US"/>
              <a:t>XML macro - </a:t>
            </a:r>
            <a:r>
              <a:rPr lang="en-US" b="1"/>
              <a:t>xacro</a:t>
            </a:r>
          </a:p>
        </p:txBody>
      </p:sp>
      <p:sp>
        <p:nvSpPr>
          <p:cNvPr id="3" name="Content Placeholder 2">
            <a:extLst>
              <a:ext uri="{FF2B5EF4-FFF2-40B4-BE49-F238E27FC236}">
                <a16:creationId xmlns:a16="http://schemas.microsoft.com/office/drawing/2014/main" id="{004888D5-7B62-426E-3352-AF419CE3A7EA}"/>
              </a:ext>
            </a:extLst>
          </p:cNvPr>
          <p:cNvSpPr>
            <a:spLocks noGrp="1"/>
          </p:cNvSpPr>
          <p:nvPr>
            <p:ph idx="1"/>
          </p:nvPr>
        </p:nvSpPr>
        <p:spPr/>
        <p:txBody>
          <a:bodyPr/>
          <a:lstStyle/>
          <a:p>
            <a:r>
              <a:rPr lang="en-US"/>
              <a:t>URDF is generally long and repeatitive</a:t>
            </a:r>
          </a:p>
          <a:p>
            <a:r>
              <a:rPr lang="en-US" b="1" i="0">
                <a:solidFill>
                  <a:srgbClr val="0070C0"/>
                </a:solidFill>
                <a:effectLst/>
                <a:latin typeface="Merriweather"/>
              </a:rPr>
              <a:t>Xacro</a:t>
            </a:r>
            <a:r>
              <a:rPr lang="en-US" b="0" i="0">
                <a:effectLst/>
                <a:latin typeface="Merriweather"/>
              </a:rPr>
              <a:t> lets us manipulate the URDF files easier by</a:t>
            </a:r>
          </a:p>
          <a:p>
            <a:pPr lvl="1"/>
            <a:r>
              <a:rPr lang="en-US"/>
              <a:t>splitting up code into multiple files</a:t>
            </a:r>
          </a:p>
          <a:p>
            <a:pPr lvl="1"/>
            <a:r>
              <a:rPr lang="en-US" b="0" i="0">
                <a:effectLst/>
                <a:latin typeface="Merriweather"/>
              </a:rPr>
              <a:t>avoiding duplicate code</a:t>
            </a:r>
          </a:p>
          <a:p>
            <a:pPr lvl="1"/>
            <a:r>
              <a:rPr lang="en-US">
                <a:latin typeface="Merriweather"/>
              </a:rPr>
              <a:t>Declaring properties</a:t>
            </a:r>
          </a:p>
          <a:p>
            <a:pPr lvl="1"/>
            <a:endParaRPr lang="en-US"/>
          </a:p>
          <a:p>
            <a:endParaRPr lang="en-US"/>
          </a:p>
        </p:txBody>
      </p:sp>
      <p:sp>
        <p:nvSpPr>
          <p:cNvPr id="4" name="Slide Number Placeholder 3">
            <a:extLst>
              <a:ext uri="{FF2B5EF4-FFF2-40B4-BE49-F238E27FC236}">
                <a16:creationId xmlns:a16="http://schemas.microsoft.com/office/drawing/2014/main" id="{A51B11A2-9CED-C0D7-FA71-8248EF360F44}"/>
              </a:ext>
            </a:extLst>
          </p:cNvPr>
          <p:cNvSpPr>
            <a:spLocks noGrp="1"/>
          </p:cNvSpPr>
          <p:nvPr>
            <p:ph type="sldNum" sz="quarter" idx="12"/>
          </p:nvPr>
        </p:nvSpPr>
        <p:spPr/>
        <p:txBody>
          <a:bodyPr/>
          <a:lstStyle/>
          <a:p>
            <a:fld id="{3957FE44-DABC-424D-A234-74BB9410FF27}" type="slidenum">
              <a:rPr lang="en-US" smtClean="0"/>
              <a:pPr/>
              <a:t>32</a:t>
            </a:fld>
            <a:endParaRPr lang="en-US" dirty="0"/>
          </a:p>
        </p:txBody>
      </p:sp>
      <p:pic>
        <p:nvPicPr>
          <p:cNvPr id="6146" name="Picture 2" descr="Running xacro">
            <a:extLst>
              <a:ext uri="{FF2B5EF4-FFF2-40B4-BE49-F238E27FC236}">
                <a16:creationId xmlns:a16="http://schemas.microsoft.com/office/drawing/2014/main" id="{5A77C6D4-25C6-CE82-88FA-8A232A82C4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124200"/>
            <a:ext cx="8058665" cy="2961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7671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80D24-33AB-B9EA-E79F-F27B3519BBA8}"/>
              </a:ext>
            </a:extLst>
          </p:cNvPr>
          <p:cNvSpPr>
            <a:spLocks noGrp="1"/>
          </p:cNvSpPr>
          <p:nvPr>
            <p:ph type="title"/>
          </p:nvPr>
        </p:nvSpPr>
        <p:spPr/>
        <p:txBody>
          <a:bodyPr/>
          <a:lstStyle/>
          <a:p>
            <a:r>
              <a:rPr lang="en-US"/>
              <a:t>Exercise</a:t>
            </a:r>
          </a:p>
        </p:txBody>
      </p:sp>
      <p:sp>
        <p:nvSpPr>
          <p:cNvPr id="3" name="Content Placeholder 2">
            <a:extLst>
              <a:ext uri="{FF2B5EF4-FFF2-40B4-BE49-F238E27FC236}">
                <a16:creationId xmlns:a16="http://schemas.microsoft.com/office/drawing/2014/main" id="{C8F4E078-956E-59FF-1BB3-3246B252CDE8}"/>
              </a:ext>
            </a:extLst>
          </p:cNvPr>
          <p:cNvSpPr>
            <a:spLocks noGrp="1"/>
          </p:cNvSpPr>
          <p:nvPr>
            <p:ph idx="1"/>
          </p:nvPr>
        </p:nvSpPr>
        <p:spPr/>
        <p:txBody>
          <a:bodyPr/>
          <a:lstStyle/>
          <a:p>
            <a:r>
              <a:rPr lang="en-US"/>
              <a:t>Create URDF for a differential drive robot </a:t>
            </a:r>
          </a:p>
        </p:txBody>
      </p:sp>
      <p:sp>
        <p:nvSpPr>
          <p:cNvPr id="4" name="Slide Number Placeholder 3">
            <a:extLst>
              <a:ext uri="{FF2B5EF4-FFF2-40B4-BE49-F238E27FC236}">
                <a16:creationId xmlns:a16="http://schemas.microsoft.com/office/drawing/2014/main" id="{B27EF44E-AFEB-97AB-B686-4F82FFFB4D29}"/>
              </a:ext>
            </a:extLst>
          </p:cNvPr>
          <p:cNvSpPr>
            <a:spLocks noGrp="1"/>
          </p:cNvSpPr>
          <p:nvPr>
            <p:ph type="sldNum" sz="quarter" idx="12"/>
          </p:nvPr>
        </p:nvSpPr>
        <p:spPr/>
        <p:txBody>
          <a:bodyPr/>
          <a:lstStyle/>
          <a:p>
            <a:fld id="{3957FE44-DABC-424D-A234-74BB9410FF27}" type="slidenum">
              <a:rPr lang="en-US" smtClean="0"/>
              <a:pPr/>
              <a:t>33</a:t>
            </a:fld>
            <a:endParaRPr lang="en-US" dirty="0"/>
          </a:p>
        </p:txBody>
      </p:sp>
      <p:pic>
        <p:nvPicPr>
          <p:cNvPr id="7170" name="Picture 2" descr="Schematic of a differential-drive mobile robot equipped with a... |  Download Scientific Diagram">
            <a:extLst>
              <a:ext uri="{FF2B5EF4-FFF2-40B4-BE49-F238E27FC236}">
                <a16:creationId xmlns:a16="http://schemas.microsoft.com/office/drawing/2014/main" id="{B8C5C757-AA9A-7B47-E555-37F33FA602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2209800"/>
            <a:ext cx="4382382"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8284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D08A-8D13-5186-19B9-651A9316FC5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F4D6FA-94F1-6E02-9DC9-F5817BA3CF63}"/>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F69C6354-8ACC-0502-2990-515AFDEB5C65}"/>
              </a:ext>
            </a:extLst>
          </p:cNvPr>
          <p:cNvSpPr>
            <a:spLocks noGrp="1"/>
          </p:cNvSpPr>
          <p:nvPr>
            <p:ph type="sldNum" sz="quarter" idx="12"/>
          </p:nvPr>
        </p:nvSpPr>
        <p:spPr/>
        <p:txBody>
          <a:bodyPr/>
          <a:lstStyle/>
          <a:p>
            <a:fld id="{3957FE44-DABC-424D-A234-74BB9410FF27}" type="slidenum">
              <a:rPr lang="en-US" smtClean="0"/>
              <a:pPr/>
              <a:t>34</a:t>
            </a:fld>
            <a:endParaRPr lang="en-US" dirty="0"/>
          </a:p>
        </p:txBody>
      </p:sp>
      <p:sp>
        <p:nvSpPr>
          <p:cNvPr id="5" name="Rectangle 4">
            <a:extLst>
              <a:ext uri="{FF2B5EF4-FFF2-40B4-BE49-F238E27FC236}">
                <a16:creationId xmlns:a16="http://schemas.microsoft.com/office/drawing/2014/main" id="{A0E08EB0-55CD-E889-8E6D-48040B169D95}"/>
              </a:ext>
            </a:extLst>
          </p:cNvPr>
          <p:cNvSpPr/>
          <p:nvPr/>
        </p:nvSpPr>
        <p:spPr>
          <a:xfrm>
            <a:off x="1017180" y="2967335"/>
            <a:ext cx="7109639" cy="1754326"/>
          </a:xfrm>
          <a:prstGeom prst="rect">
            <a:avLst/>
          </a:prstGeom>
          <a:noFill/>
        </p:spPr>
        <p:txBody>
          <a:bodyPr wrap="none" lIns="91440" tIns="45720" rIns="91440" bIns="45720">
            <a:spAutoFit/>
          </a:bodyPr>
          <a:lstStyle/>
          <a:p>
            <a:pPr algn="ctr"/>
            <a:r>
              <a:rPr lang="en-US" sz="5400" b="1" cap="none" spc="0">
                <a:ln w="6600">
                  <a:solidFill>
                    <a:schemeClr val="accent2"/>
                  </a:solidFill>
                  <a:prstDash val="solid"/>
                </a:ln>
                <a:solidFill>
                  <a:srgbClr val="FFFFFF"/>
                </a:solidFill>
                <a:effectLst>
                  <a:outerShdw dist="38100" dir="2700000" algn="tl" rotWithShape="0">
                    <a:schemeClr val="accent2"/>
                  </a:outerShdw>
                </a:effectLst>
              </a:rPr>
              <a:t>Simulation the robot </a:t>
            </a:r>
          </a:p>
          <a:p>
            <a:pPr algn="ctr"/>
            <a:r>
              <a:rPr lang="en-US" sz="5400" b="1" cap="none" spc="0">
                <a:ln w="6600">
                  <a:solidFill>
                    <a:schemeClr val="accent2"/>
                  </a:solidFill>
                  <a:prstDash val="solid"/>
                </a:ln>
                <a:solidFill>
                  <a:srgbClr val="FFFFFF"/>
                </a:solidFill>
                <a:effectLst>
                  <a:outerShdw dist="38100" dir="2700000" algn="tl" rotWithShape="0">
                    <a:schemeClr val="accent2"/>
                  </a:outerShdw>
                </a:effectLst>
              </a:rPr>
              <a:t>in Gazebo</a:t>
            </a:r>
          </a:p>
        </p:txBody>
      </p:sp>
    </p:spTree>
    <p:extLst>
      <p:ext uri="{BB962C8B-B14F-4D97-AF65-F5344CB8AC3E}">
        <p14:creationId xmlns:p14="http://schemas.microsoft.com/office/powerpoint/2010/main" val="3745664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C4DDE-F336-E55E-B9FF-6EB8186567AC}"/>
              </a:ext>
            </a:extLst>
          </p:cNvPr>
          <p:cNvSpPr>
            <a:spLocks noGrp="1"/>
          </p:cNvSpPr>
          <p:nvPr>
            <p:ph type="title"/>
          </p:nvPr>
        </p:nvSpPr>
        <p:spPr/>
        <p:txBody>
          <a:bodyPr>
            <a:normAutofit/>
          </a:bodyPr>
          <a:lstStyle/>
          <a:p>
            <a:r>
              <a:rPr lang="en-US"/>
              <a:t>Gazebo</a:t>
            </a:r>
          </a:p>
        </p:txBody>
      </p:sp>
      <p:sp>
        <p:nvSpPr>
          <p:cNvPr id="3" name="Content Placeholder 2">
            <a:extLst>
              <a:ext uri="{FF2B5EF4-FFF2-40B4-BE49-F238E27FC236}">
                <a16:creationId xmlns:a16="http://schemas.microsoft.com/office/drawing/2014/main" id="{B5636C5E-2648-A4F3-C1F2-251AEFB79AA7}"/>
              </a:ext>
            </a:extLst>
          </p:cNvPr>
          <p:cNvSpPr>
            <a:spLocks noGrp="1"/>
          </p:cNvSpPr>
          <p:nvPr>
            <p:ph idx="1"/>
          </p:nvPr>
        </p:nvSpPr>
        <p:spPr/>
        <p:txBody>
          <a:bodyPr/>
          <a:lstStyle/>
          <a:p>
            <a:r>
              <a:rPr lang="en-US"/>
              <a:t>Gazebo is a leader in robot simulation, created in 2002 </a:t>
            </a:r>
          </a:p>
          <a:p>
            <a:r>
              <a:rPr lang="en-US"/>
              <a:t>Official website: </a:t>
            </a:r>
            <a:r>
              <a:rPr lang="en-US" i="1">
                <a:hlinkClick r:id="rId2"/>
              </a:rPr>
              <a:t>https://gazebosim.org/</a:t>
            </a:r>
            <a:endParaRPr lang="en-US" i="1"/>
          </a:p>
          <a:p>
            <a:endParaRPr lang="en-US" i="1"/>
          </a:p>
          <a:p>
            <a:endParaRPr lang="en-US"/>
          </a:p>
        </p:txBody>
      </p:sp>
      <p:sp>
        <p:nvSpPr>
          <p:cNvPr id="4" name="Slide Number Placeholder 3">
            <a:extLst>
              <a:ext uri="{FF2B5EF4-FFF2-40B4-BE49-F238E27FC236}">
                <a16:creationId xmlns:a16="http://schemas.microsoft.com/office/drawing/2014/main" id="{F79FA3CA-8D3F-62E9-C429-F52F791E8F5A}"/>
              </a:ext>
            </a:extLst>
          </p:cNvPr>
          <p:cNvSpPr>
            <a:spLocks noGrp="1"/>
          </p:cNvSpPr>
          <p:nvPr>
            <p:ph type="sldNum" sz="quarter" idx="12"/>
          </p:nvPr>
        </p:nvSpPr>
        <p:spPr/>
        <p:txBody>
          <a:bodyPr/>
          <a:lstStyle/>
          <a:p>
            <a:fld id="{3957FE44-DABC-424D-A234-74BB9410FF27}" type="slidenum">
              <a:rPr lang="en-US" smtClean="0"/>
              <a:pPr/>
              <a:t>35</a:t>
            </a:fld>
            <a:endParaRPr lang="en-US" dirty="0"/>
          </a:p>
        </p:txBody>
      </p:sp>
      <p:pic>
        <p:nvPicPr>
          <p:cNvPr id="10" name="Picture 9">
            <a:extLst>
              <a:ext uri="{FF2B5EF4-FFF2-40B4-BE49-F238E27FC236}">
                <a16:creationId xmlns:a16="http://schemas.microsoft.com/office/drawing/2014/main" id="{D578DB20-9C07-15E0-E729-36F52E4D8F73}"/>
              </a:ext>
            </a:extLst>
          </p:cNvPr>
          <p:cNvPicPr>
            <a:picLocks noChangeAspect="1"/>
          </p:cNvPicPr>
          <p:nvPr/>
        </p:nvPicPr>
        <p:blipFill>
          <a:blip r:embed="rId3"/>
          <a:stretch>
            <a:fillRect/>
          </a:stretch>
        </p:blipFill>
        <p:spPr>
          <a:xfrm>
            <a:off x="228600" y="2667000"/>
            <a:ext cx="8865215" cy="2938913"/>
          </a:xfrm>
          <a:prstGeom prst="rect">
            <a:avLst/>
          </a:prstGeom>
        </p:spPr>
      </p:pic>
    </p:spTree>
    <p:extLst>
      <p:ext uri="{BB962C8B-B14F-4D97-AF65-F5344CB8AC3E}">
        <p14:creationId xmlns:p14="http://schemas.microsoft.com/office/powerpoint/2010/main" val="3970553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C4DDE-F336-E55E-B9FF-6EB8186567AC}"/>
              </a:ext>
            </a:extLst>
          </p:cNvPr>
          <p:cNvSpPr>
            <a:spLocks noGrp="1"/>
          </p:cNvSpPr>
          <p:nvPr>
            <p:ph type="title"/>
          </p:nvPr>
        </p:nvSpPr>
        <p:spPr/>
        <p:txBody>
          <a:bodyPr>
            <a:normAutofit/>
          </a:bodyPr>
          <a:lstStyle/>
          <a:p>
            <a:r>
              <a:rPr lang="en-US"/>
              <a:t>Gazebo</a:t>
            </a:r>
          </a:p>
        </p:txBody>
      </p:sp>
      <p:sp>
        <p:nvSpPr>
          <p:cNvPr id="3" name="Content Placeholder 2">
            <a:extLst>
              <a:ext uri="{FF2B5EF4-FFF2-40B4-BE49-F238E27FC236}">
                <a16:creationId xmlns:a16="http://schemas.microsoft.com/office/drawing/2014/main" id="{B5636C5E-2648-A4F3-C1F2-251AEFB79AA7}"/>
              </a:ext>
            </a:extLst>
          </p:cNvPr>
          <p:cNvSpPr>
            <a:spLocks noGrp="1"/>
          </p:cNvSpPr>
          <p:nvPr>
            <p:ph idx="1"/>
          </p:nvPr>
        </p:nvSpPr>
        <p:spPr>
          <a:xfrm>
            <a:off x="457200" y="1600200"/>
            <a:ext cx="4495800" cy="4876800"/>
          </a:xfrm>
        </p:spPr>
        <p:txBody>
          <a:bodyPr>
            <a:normAutofit lnSpcReduction="10000"/>
          </a:bodyPr>
          <a:lstStyle/>
          <a:p>
            <a:r>
              <a:rPr lang="en-US"/>
              <a:t>Gazebo is a 3D simulator with the ability to</a:t>
            </a:r>
          </a:p>
          <a:p>
            <a:pPr lvl="1"/>
            <a:r>
              <a:rPr lang="en-US"/>
              <a:t>accurately and efficiently simulate robots, sensors, and objects in a 3-D dynamic environment</a:t>
            </a:r>
          </a:p>
          <a:p>
            <a:pPr lvl="1"/>
            <a:r>
              <a:rPr lang="en-US"/>
              <a:t>Generates realistic sensor feedback and physical interactions between objects</a:t>
            </a:r>
          </a:p>
          <a:p>
            <a:r>
              <a:rPr lang="en-US"/>
              <a:t>Why simulation?</a:t>
            </a:r>
          </a:p>
          <a:p>
            <a:pPr lvl="1"/>
            <a:r>
              <a:rPr lang="en-US"/>
              <a:t>Save time and your sanity</a:t>
            </a:r>
          </a:p>
          <a:p>
            <a:pPr lvl="1"/>
            <a:r>
              <a:rPr lang="en-US"/>
              <a:t>Experimentation much less destructive</a:t>
            </a:r>
          </a:p>
          <a:p>
            <a:pPr lvl="1"/>
            <a:r>
              <a:rPr lang="en-US"/>
              <a:t>Use hardware you don’t have</a:t>
            </a:r>
          </a:p>
          <a:p>
            <a:pPr lvl="1"/>
            <a:r>
              <a:rPr lang="en-US"/>
              <a:t>Create really cool videos</a:t>
            </a:r>
          </a:p>
          <a:p>
            <a:endParaRPr lang="en-US"/>
          </a:p>
        </p:txBody>
      </p:sp>
      <p:sp>
        <p:nvSpPr>
          <p:cNvPr id="4" name="Slide Number Placeholder 3">
            <a:extLst>
              <a:ext uri="{FF2B5EF4-FFF2-40B4-BE49-F238E27FC236}">
                <a16:creationId xmlns:a16="http://schemas.microsoft.com/office/drawing/2014/main" id="{F79FA3CA-8D3F-62E9-C429-F52F791E8F5A}"/>
              </a:ext>
            </a:extLst>
          </p:cNvPr>
          <p:cNvSpPr>
            <a:spLocks noGrp="1"/>
          </p:cNvSpPr>
          <p:nvPr>
            <p:ph type="sldNum" sz="quarter" idx="12"/>
          </p:nvPr>
        </p:nvSpPr>
        <p:spPr/>
        <p:txBody>
          <a:bodyPr/>
          <a:lstStyle/>
          <a:p>
            <a:fld id="{3957FE44-DABC-424D-A234-74BB9410FF27}" type="slidenum">
              <a:rPr lang="en-US" smtClean="0"/>
              <a:pPr/>
              <a:t>36</a:t>
            </a:fld>
            <a:endParaRPr lang="en-US" dirty="0"/>
          </a:p>
        </p:txBody>
      </p:sp>
      <p:pic>
        <p:nvPicPr>
          <p:cNvPr id="6" name="Picture 5">
            <a:extLst>
              <a:ext uri="{FF2B5EF4-FFF2-40B4-BE49-F238E27FC236}">
                <a16:creationId xmlns:a16="http://schemas.microsoft.com/office/drawing/2014/main" id="{9F6959B4-5A0D-C2F0-1706-A5492DFC42FD}"/>
              </a:ext>
            </a:extLst>
          </p:cNvPr>
          <p:cNvPicPr>
            <a:picLocks noChangeAspect="1"/>
          </p:cNvPicPr>
          <p:nvPr/>
        </p:nvPicPr>
        <p:blipFill>
          <a:blip r:embed="rId2"/>
          <a:stretch>
            <a:fillRect/>
          </a:stretch>
        </p:blipFill>
        <p:spPr>
          <a:xfrm>
            <a:off x="5181600" y="1905000"/>
            <a:ext cx="3831416" cy="3733800"/>
          </a:xfrm>
          <a:prstGeom prst="rect">
            <a:avLst/>
          </a:prstGeom>
        </p:spPr>
      </p:pic>
    </p:spTree>
    <p:extLst>
      <p:ext uri="{BB962C8B-B14F-4D97-AF65-F5344CB8AC3E}">
        <p14:creationId xmlns:p14="http://schemas.microsoft.com/office/powerpoint/2010/main" val="2316865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780C-CB29-79D5-DC5B-2862576521C3}"/>
              </a:ext>
            </a:extLst>
          </p:cNvPr>
          <p:cNvSpPr>
            <a:spLocks noGrp="1"/>
          </p:cNvSpPr>
          <p:nvPr>
            <p:ph type="title"/>
          </p:nvPr>
        </p:nvSpPr>
        <p:spPr/>
        <p:txBody>
          <a:bodyPr/>
          <a:lstStyle/>
          <a:p>
            <a:r>
              <a:rPr lang="en-US"/>
              <a:t>Elements in Gazebo</a:t>
            </a:r>
          </a:p>
        </p:txBody>
      </p:sp>
      <p:sp>
        <p:nvSpPr>
          <p:cNvPr id="3" name="Content Placeholder 2">
            <a:extLst>
              <a:ext uri="{FF2B5EF4-FFF2-40B4-BE49-F238E27FC236}">
                <a16:creationId xmlns:a16="http://schemas.microsoft.com/office/drawing/2014/main" id="{4E234AB3-9E05-CB42-2AEA-109592BEC8C1}"/>
              </a:ext>
            </a:extLst>
          </p:cNvPr>
          <p:cNvSpPr>
            <a:spLocks noGrp="1"/>
          </p:cNvSpPr>
          <p:nvPr>
            <p:ph idx="1"/>
          </p:nvPr>
        </p:nvSpPr>
        <p:spPr>
          <a:xfrm>
            <a:off x="3886200" y="1600200"/>
            <a:ext cx="4800600" cy="4876800"/>
          </a:xfrm>
        </p:spPr>
        <p:txBody>
          <a:bodyPr/>
          <a:lstStyle/>
          <a:p>
            <a:pPr marL="0" indent="0">
              <a:buNone/>
            </a:pPr>
            <a:r>
              <a:rPr lang="en-US" b="1"/>
              <a:t>World</a:t>
            </a:r>
          </a:p>
          <a:p>
            <a:pPr lvl="1"/>
            <a:r>
              <a:rPr lang="en-US"/>
              <a:t>A world is composed of a model hierarchy</a:t>
            </a:r>
          </a:p>
          <a:p>
            <a:pPr lvl="1"/>
            <a:r>
              <a:rPr lang="en-US"/>
              <a:t>The Gazebo server reads the world file to generate and populate a world</a:t>
            </a:r>
          </a:p>
          <a:p>
            <a:pPr lvl="1"/>
            <a:r>
              <a:rPr lang="en-US"/>
              <a:t>World file:</a:t>
            </a:r>
          </a:p>
          <a:p>
            <a:pPr lvl="2"/>
            <a:r>
              <a:rPr lang="en-US"/>
              <a:t>Has “.world” extension</a:t>
            </a:r>
          </a:p>
          <a:p>
            <a:pPr lvl="2"/>
            <a:r>
              <a:rPr lang="en-US"/>
              <a:t>Contains all the elements in a simulation, including scene, robots, lights, sensors, and static objects </a:t>
            </a:r>
          </a:p>
          <a:p>
            <a:pPr lvl="1"/>
            <a:r>
              <a:rPr lang="en-US"/>
              <a:t>Build a world:</a:t>
            </a:r>
          </a:p>
          <a:p>
            <a:pPr marL="274320" lvl="1" indent="0">
              <a:buNone/>
            </a:pPr>
            <a:r>
              <a:rPr lang="en-US"/>
              <a:t> </a:t>
            </a:r>
            <a:r>
              <a:rPr lang="en-US" sz="1400" i="1">
                <a:solidFill>
                  <a:srgbClr val="0070C0"/>
                </a:solidFill>
              </a:rPr>
              <a:t>https://classic.gazebosim.org/tutorials?tut=build_world</a:t>
            </a:r>
          </a:p>
          <a:p>
            <a:endParaRPr lang="en-US" b="1"/>
          </a:p>
        </p:txBody>
      </p:sp>
      <p:sp>
        <p:nvSpPr>
          <p:cNvPr id="4" name="Slide Number Placeholder 3">
            <a:extLst>
              <a:ext uri="{FF2B5EF4-FFF2-40B4-BE49-F238E27FC236}">
                <a16:creationId xmlns:a16="http://schemas.microsoft.com/office/drawing/2014/main" id="{F2C5E1A5-0031-DA52-5500-DC38A0A29D67}"/>
              </a:ext>
            </a:extLst>
          </p:cNvPr>
          <p:cNvSpPr>
            <a:spLocks noGrp="1"/>
          </p:cNvSpPr>
          <p:nvPr>
            <p:ph type="sldNum" sz="quarter" idx="12"/>
          </p:nvPr>
        </p:nvSpPr>
        <p:spPr/>
        <p:txBody>
          <a:bodyPr/>
          <a:lstStyle/>
          <a:p>
            <a:fld id="{3957FE44-DABC-424D-A234-74BB9410FF27}" type="slidenum">
              <a:rPr lang="en-US" smtClean="0"/>
              <a:pPr/>
              <a:t>37</a:t>
            </a:fld>
            <a:endParaRPr lang="en-US" dirty="0"/>
          </a:p>
        </p:txBody>
      </p:sp>
      <p:pic>
        <p:nvPicPr>
          <p:cNvPr id="6" name="Picture 5">
            <a:extLst>
              <a:ext uri="{FF2B5EF4-FFF2-40B4-BE49-F238E27FC236}">
                <a16:creationId xmlns:a16="http://schemas.microsoft.com/office/drawing/2014/main" id="{4B44810E-DF21-3204-0FA4-FD80D009747B}"/>
              </a:ext>
            </a:extLst>
          </p:cNvPr>
          <p:cNvPicPr>
            <a:picLocks noChangeAspect="1"/>
          </p:cNvPicPr>
          <p:nvPr/>
        </p:nvPicPr>
        <p:blipFill>
          <a:blip r:embed="rId2"/>
          <a:stretch>
            <a:fillRect/>
          </a:stretch>
        </p:blipFill>
        <p:spPr>
          <a:xfrm>
            <a:off x="381000" y="1821292"/>
            <a:ext cx="3429000" cy="4715758"/>
          </a:xfrm>
          <a:prstGeom prst="rect">
            <a:avLst/>
          </a:prstGeom>
        </p:spPr>
      </p:pic>
    </p:spTree>
    <p:extLst>
      <p:ext uri="{BB962C8B-B14F-4D97-AF65-F5344CB8AC3E}">
        <p14:creationId xmlns:p14="http://schemas.microsoft.com/office/powerpoint/2010/main" val="33089601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780C-CB29-79D5-DC5B-2862576521C3}"/>
              </a:ext>
            </a:extLst>
          </p:cNvPr>
          <p:cNvSpPr>
            <a:spLocks noGrp="1"/>
          </p:cNvSpPr>
          <p:nvPr>
            <p:ph type="title"/>
          </p:nvPr>
        </p:nvSpPr>
        <p:spPr/>
        <p:txBody>
          <a:bodyPr/>
          <a:lstStyle/>
          <a:p>
            <a:r>
              <a:rPr lang="en-US"/>
              <a:t>Elements in Gazebo</a:t>
            </a:r>
          </a:p>
        </p:txBody>
      </p:sp>
      <p:sp>
        <p:nvSpPr>
          <p:cNvPr id="3" name="Content Placeholder 2">
            <a:extLst>
              <a:ext uri="{FF2B5EF4-FFF2-40B4-BE49-F238E27FC236}">
                <a16:creationId xmlns:a16="http://schemas.microsoft.com/office/drawing/2014/main" id="{4E234AB3-9E05-CB42-2AEA-109592BEC8C1}"/>
              </a:ext>
            </a:extLst>
          </p:cNvPr>
          <p:cNvSpPr>
            <a:spLocks noGrp="1"/>
          </p:cNvSpPr>
          <p:nvPr>
            <p:ph idx="1"/>
          </p:nvPr>
        </p:nvSpPr>
        <p:spPr>
          <a:xfrm>
            <a:off x="3886200" y="1600200"/>
            <a:ext cx="4800600" cy="4876800"/>
          </a:xfrm>
        </p:spPr>
        <p:txBody>
          <a:bodyPr>
            <a:normAutofit/>
          </a:bodyPr>
          <a:lstStyle/>
          <a:p>
            <a:pPr marL="0" indent="0">
              <a:buNone/>
            </a:pPr>
            <a:r>
              <a:rPr lang="en-US" b="1"/>
              <a:t>Model</a:t>
            </a:r>
          </a:p>
          <a:p>
            <a:pPr lvl="1"/>
            <a:r>
              <a:rPr lang="en-US"/>
              <a:t>Model is a collection of links, joints,sensors, and plugins</a:t>
            </a:r>
          </a:p>
          <a:p>
            <a:pPr lvl="1"/>
            <a:r>
              <a:rPr lang="en-US"/>
              <a:t>Model is defined using formatted using </a:t>
            </a:r>
            <a:r>
              <a:rPr lang="en-US" b="1" i="1">
                <a:solidFill>
                  <a:srgbClr val="0070C0"/>
                </a:solidFill>
              </a:rPr>
              <a:t>SDF</a:t>
            </a:r>
            <a:r>
              <a:rPr lang="en-US"/>
              <a:t> (Simulation Description format) or </a:t>
            </a:r>
            <a:r>
              <a:rPr lang="en-US" b="1" i="1">
                <a:solidFill>
                  <a:srgbClr val="0070C0"/>
                </a:solidFill>
              </a:rPr>
              <a:t>URDF</a:t>
            </a:r>
            <a:r>
              <a:rPr lang="en-US"/>
              <a:t> (Unified Robot Description Format)</a:t>
            </a:r>
          </a:p>
          <a:p>
            <a:pPr lvl="1"/>
            <a:r>
              <a:rPr lang="en-US"/>
              <a:t>Each model contains a few key properties:</a:t>
            </a:r>
          </a:p>
          <a:p>
            <a:pPr lvl="2"/>
            <a:r>
              <a:rPr lang="en-US"/>
              <a:t>Physical properties: visual, kinematics, dynamics, appearance</a:t>
            </a:r>
          </a:p>
          <a:p>
            <a:pPr lvl="2"/>
            <a:r>
              <a:rPr lang="en-US"/>
              <a:t>Control and feedback interfaces (libgazebo)</a:t>
            </a:r>
          </a:p>
          <a:p>
            <a:pPr lvl="1"/>
            <a:r>
              <a:rPr lang="en-US"/>
              <a:t>Create SDF from URDF</a:t>
            </a:r>
          </a:p>
        </p:txBody>
      </p:sp>
      <p:sp>
        <p:nvSpPr>
          <p:cNvPr id="4" name="Slide Number Placeholder 3">
            <a:extLst>
              <a:ext uri="{FF2B5EF4-FFF2-40B4-BE49-F238E27FC236}">
                <a16:creationId xmlns:a16="http://schemas.microsoft.com/office/drawing/2014/main" id="{F2C5E1A5-0031-DA52-5500-DC38A0A29D67}"/>
              </a:ext>
            </a:extLst>
          </p:cNvPr>
          <p:cNvSpPr>
            <a:spLocks noGrp="1"/>
          </p:cNvSpPr>
          <p:nvPr>
            <p:ph type="sldNum" sz="quarter" idx="12"/>
          </p:nvPr>
        </p:nvSpPr>
        <p:spPr/>
        <p:txBody>
          <a:bodyPr/>
          <a:lstStyle/>
          <a:p>
            <a:fld id="{3957FE44-DABC-424D-A234-74BB9410FF27}" type="slidenum">
              <a:rPr lang="en-US" smtClean="0"/>
              <a:pPr/>
              <a:t>38</a:t>
            </a:fld>
            <a:endParaRPr lang="en-US" dirty="0"/>
          </a:p>
        </p:txBody>
      </p:sp>
      <p:pic>
        <p:nvPicPr>
          <p:cNvPr id="6" name="Picture 5">
            <a:extLst>
              <a:ext uri="{FF2B5EF4-FFF2-40B4-BE49-F238E27FC236}">
                <a16:creationId xmlns:a16="http://schemas.microsoft.com/office/drawing/2014/main" id="{4B44810E-DF21-3204-0FA4-FD80D009747B}"/>
              </a:ext>
            </a:extLst>
          </p:cNvPr>
          <p:cNvPicPr>
            <a:picLocks noChangeAspect="1"/>
          </p:cNvPicPr>
          <p:nvPr/>
        </p:nvPicPr>
        <p:blipFill>
          <a:blip r:embed="rId2"/>
          <a:stretch>
            <a:fillRect/>
          </a:stretch>
        </p:blipFill>
        <p:spPr>
          <a:xfrm>
            <a:off x="381000" y="1821292"/>
            <a:ext cx="3429000" cy="4715758"/>
          </a:xfrm>
          <a:prstGeom prst="rect">
            <a:avLst/>
          </a:prstGeom>
        </p:spPr>
      </p:pic>
      <p:sp>
        <p:nvSpPr>
          <p:cNvPr id="9" name="TextBox 8">
            <a:extLst>
              <a:ext uri="{FF2B5EF4-FFF2-40B4-BE49-F238E27FC236}">
                <a16:creationId xmlns:a16="http://schemas.microsoft.com/office/drawing/2014/main" id="{32691013-A340-99D1-99E7-7908CEA674E8}"/>
              </a:ext>
            </a:extLst>
          </p:cNvPr>
          <p:cNvSpPr txBox="1"/>
          <p:nvPr/>
        </p:nvSpPr>
        <p:spPr>
          <a:xfrm>
            <a:off x="4572000" y="6170711"/>
            <a:ext cx="4572000" cy="307777"/>
          </a:xfrm>
          <a:prstGeom prst="rect">
            <a:avLst/>
          </a:prstGeom>
          <a:noFill/>
        </p:spPr>
        <p:txBody>
          <a:bodyPr wrap="square">
            <a:spAutoFit/>
          </a:bodyPr>
          <a:lstStyle/>
          <a:p>
            <a:r>
              <a:rPr lang="en-US" sz="1400" i="1">
                <a:solidFill>
                  <a:srgbClr val="0070C0"/>
                </a:solidFill>
              </a:rPr>
              <a:t>https://classic.gazebosim.org/tutorials?tut=ros_urdf</a:t>
            </a:r>
          </a:p>
        </p:txBody>
      </p:sp>
    </p:spTree>
    <p:extLst>
      <p:ext uri="{BB962C8B-B14F-4D97-AF65-F5344CB8AC3E}">
        <p14:creationId xmlns:p14="http://schemas.microsoft.com/office/powerpoint/2010/main" val="2026901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780C-CB29-79D5-DC5B-2862576521C3}"/>
              </a:ext>
            </a:extLst>
          </p:cNvPr>
          <p:cNvSpPr>
            <a:spLocks noGrp="1"/>
          </p:cNvSpPr>
          <p:nvPr>
            <p:ph type="title"/>
          </p:nvPr>
        </p:nvSpPr>
        <p:spPr/>
        <p:txBody>
          <a:bodyPr/>
          <a:lstStyle/>
          <a:p>
            <a:r>
              <a:rPr lang="en-US"/>
              <a:t>Elements in Gazebo</a:t>
            </a:r>
          </a:p>
        </p:txBody>
      </p:sp>
      <p:sp>
        <p:nvSpPr>
          <p:cNvPr id="3" name="Content Placeholder 2">
            <a:extLst>
              <a:ext uri="{FF2B5EF4-FFF2-40B4-BE49-F238E27FC236}">
                <a16:creationId xmlns:a16="http://schemas.microsoft.com/office/drawing/2014/main" id="{4E234AB3-9E05-CB42-2AEA-109592BEC8C1}"/>
              </a:ext>
            </a:extLst>
          </p:cNvPr>
          <p:cNvSpPr>
            <a:spLocks noGrp="1"/>
          </p:cNvSpPr>
          <p:nvPr>
            <p:ph idx="1"/>
          </p:nvPr>
        </p:nvSpPr>
        <p:spPr>
          <a:xfrm>
            <a:off x="3886200" y="1600200"/>
            <a:ext cx="4800600" cy="4876800"/>
          </a:xfrm>
        </p:spPr>
        <p:txBody>
          <a:bodyPr>
            <a:normAutofit/>
          </a:bodyPr>
          <a:lstStyle/>
          <a:p>
            <a:pPr marL="0" indent="0">
              <a:buNone/>
            </a:pPr>
            <a:r>
              <a:rPr lang="en-US" b="1"/>
              <a:t>Plugin</a:t>
            </a:r>
          </a:p>
          <a:p>
            <a:pPr lvl="1"/>
            <a:r>
              <a:rPr lang="en-US"/>
              <a:t>Gazebo plugins give your URDF models greater functionality</a:t>
            </a:r>
          </a:p>
          <a:p>
            <a:pPr lvl="2"/>
            <a:r>
              <a:rPr lang="en-US"/>
              <a:t>Return sensor values</a:t>
            </a:r>
          </a:p>
          <a:p>
            <a:pPr lvl="2"/>
            <a:r>
              <a:rPr lang="en-US"/>
              <a:t>Control motors</a:t>
            </a:r>
          </a:p>
          <a:p>
            <a:pPr lvl="1"/>
            <a:r>
              <a:rPr lang="en-US"/>
              <a:t>Types of plugin:</a:t>
            </a:r>
          </a:p>
          <a:p>
            <a:pPr lvl="2"/>
            <a:r>
              <a:rPr lang="en-US"/>
              <a:t>ModelPlugins</a:t>
            </a:r>
          </a:p>
          <a:p>
            <a:pPr lvl="2"/>
            <a:r>
              <a:rPr lang="en-US"/>
              <a:t>SensorPlugins</a:t>
            </a:r>
          </a:p>
          <a:p>
            <a:pPr lvl="2"/>
            <a:r>
              <a:rPr lang="en-US"/>
              <a:t>VisualPlugins</a:t>
            </a:r>
          </a:p>
          <a:p>
            <a:pPr lvl="1"/>
            <a:r>
              <a:rPr lang="en-US"/>
              <a:t>More detail:</a:t>
            </a:r>
          </a:p>
          <a:p>
            <a:pPr marL="274320" lvl="1" indent="0">
              <a:buNone/>
            </a:pPr>
            <a:endParaRPr lang="en-US"/>
          </a:p>
        </p:txBody>
      </p:sp>
      <p:sp>
        <p:nvSpPr>
          <p:cNvPr id="4" name="Slide Number Placeholder 3">
            <a:extLst>
              <a:ext uri="{FF2B5EF4-FFF2-40B4-BE49-F238E27FC236}">
                <a16:creationId xmlns:a16="http://schemas.microsoft.com/office/drawing/2014/main" id="{F2C5E1A5-0031-DA52-5500-DC38A0A29D67}"/>
              </a:ext>
            </a:extLst>
          </p:cNvPr>
          <p:cNvSpPr>
            <a:spLocks noGrp="1"/>
          </p:cNvSpPr>
          <p:nvPr>
            <p:ph type="sldNum" sz="quarter" idx="12"/>
          </p:nvPr>
        </p:nvSpPr>
        <p:spPr/>
        <p:txBody>
          <a:bodyPr/>
          <a:lstStyle/>
          <a:p>
            <a:fld id="{3957FE44-DABC-424D-A234-74BB9410FF27}" type="slidenum">
              <a:rPr lang="en-US" smtClean="0"/>
              <a:pPr/>
              <a:t>39</a:t>
            </a:fld>
            <a:endParaRPr lang="en-US" dirty="0"/>
          </a:p>
        </p:txBody>
      </p:sp>
      <p:pic>
        <p:nvPicPr>
          <p:cNvPr id="6" name="Picture 5">
            <a:extLst>
              <a:ext uri="{FF2B5EF4-FFF2-40B4-BE49-F238E27FC236}">
                <a16:creationId xmlns:a16="http://schemas.microsoft.com/office/drawing/2014/main" id="{4B44810E-DF21-3204-0FA4-FD80D009747B}"/>
              </a:ext>
            </a:extLst>
          </p:cNvPr>
          <p:cNvPicPr>
            <a:picLocks noChangeAspect="1"/>
          </p:cNvPicPr>
          <p:nvPr/>
        </p:nvPicPr>
        <p:blipFill>
          <a:blip r:embed="rId2"/>
          <a:stretch>
            <a:fillRect/>
          </a:stretch>
        </p:blipFill>
        <p:spPr>
          <a:xfrm>
            <a:off x="381000" y="1821292"/>
            <a:ext cx="3429000" cy="4715758"/>
          </a:xfrm>
          <a:prstGeom prst="rect">
            <a:avLst/>
          </a:prstGeom>
        </p:spPr>
      </p:pic>
      <p:sp>
        <p:nvSpPr>
          <p:cNvPr id="5" name="TextBox 4">
            <a:extLst>
              <a:ext uri="{FF2B5EF4-FFF2-40B4-BE49-F238E27FC236}">
                <a16:creationId xmlns:a16="http://schemas.microsoft.com/office/drawing/2014/main" id="{2A2DF8D9-5E97-4F6A-6590-6FA06F9684DA}"/>
              </a:ext>
            </a:extLst>
          </p:cNvPr>
          <p:cNvSpPr txBox="1"/>
          <p:nvPr/>
        </p:nvSpPr>
        <p:spPr>
          <a:xfrm>
            <a:off x="4546121" y="5039380"/>
            <a:ext cx="3886200" cy="523220"/>
          </a:xfrm>
          <a:prstGeom prst="rect">
            <a:avLst/>
          </a:prstGeom>
          <a:noFill/>
        </p:spPr>
        <p:txBody>
          <a:bodyPr wrap="square">
            <a:spAutoFit/>
          </a:bodyPr>
          <a:lstStyle/>
          <a:p>
            <a:r>
              <a:rPr lang="en-US" sz="1400" i="1">
                <a:solidFill>
                  <a:srgbClr val="0070C0"/>
                </a:solidFill>
              </a:rPr>
              <a:t>https://classic.gazebosim.org/tutorials?tut=ros_gzplugins</a:t>
            </a:r>
          </a:p>
        </p:txBody>
      </p:sp>
    </p:spTree>
    <p:extLst>
      <p:ext uri="{BB962C8B-B14F-4D97-AF65-F5344CB8AC3E}">
        <p14:creationId xmlns:p14="http://schemas.microsoft.com/office/powerpoint/2010/main" val="36220607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9780C-CB29-79D5-DC5B-2862576521C3}"/>
              </a:ext>
            </a:extLst>
          </p:cNvPr>
          <p:cNvSpPr>
            <a:spLocks noGrp="1"/>
          </p:cNvSpPr>
          <p:nvPr>
            <p:ph type="title"/>
          </p:nvPr>
        </p:nvSpPr>
        <p:spPr/>
        <p:txBody>
          <a:bodyPr/>
          <a:lstStyle/>
          <a:p>
            <a:r>
              <a:rPr lang="en-US"/>
              <a:t>Elements in Gazebo</a:t>
            </a:r>
          </a:p>
        </p:txBody>
      </p:sp>
      <p:sp>
        <p:nvSpPr>
          <p:cNvPr id="3" name="Content Placeholder 2">
            <a:extLst>
              <a:ext uri="{FF2B5EF4-FFF2-40B4-BE49-F238E27FC236}">
                <a16:creationId xmlns:a16="http://schemas.microsoft.com/office/drawing/2014/main" id="{4E234AB3-9E05-CB42-2AEA-109592BEC8C1}"/>
              </a:ext>
            </a:extLst>
          </p:cNvPr>
          <p:cNvSpPr>
            <a:spLocks noGrp="1"/>
          </p:cNvSpPr>
          <p:nvPr>
            <p:ph idx="1"/>
          </p:nvPr>
        </p:nvSpPr>
        <p:spPr>
          <a:xfrm>
            <a:off x="3886200" y="1600200"/>
            <a:ext cx="4800600" cy="4876800"/>
          </a:xfrm>
        </p:spPr>
        <p:txBody>
          <a:bodyPr/>
          <a:lstStyle/>
          <a:p>
            <a:pPr marL="0" indent="0">
              <a:buNone/>
            </a:pPr>
            <a:r>
              <a:rPr lang="en-US" b="1"/>
              <a:t>Sensor</a:t>
            </a:r>
          </a:p>
          <a:p>
            <a:pPr lvl="1"/>
            <a:r>
              <a:rPr lang="en-US"/>
              <a:t>Collect, process, and output sensor data</a:t>
            </a:r>
          </a:p>
          <a:p>
            <a:pPr lvl="1"/>
            <a:r>
              <a:rPr lang="en-US"/>
              <a:t>Types of sensor:	</a:t>
            </a:r>
          </a:p>
          <a:p>
            <a:pPr lvl="2"/>
            <a:r>
              <a:rPr lang="en-US"/>
              <a:t>Ray sensor: produces distance data</a:t>
            </a:r>
          </a:p>
          <a:p>
            <a:pPr lvl="2"/>
            <a:r>
              <a:rPr lang="en-US"/>
              <a:t>Camera (2D and 3D): produces image and/or depth data</a:t>
            </a:r>
          </a:p>
          <a:p>
            <a:pPr lvl="2"/>
            <a:r>
              <a:rPr lang="en-US"/>
              <a:t>Contact: produces collision data</a:t>
            </a:r>
          </a:p>
          <a:p>
            <a:pPr lvl="2"/>
            <a:r>
              <a:rPr lang="en-US"/>
              <a:t>RFID: detects RFID tags</a:t>
            </a:r>
          </a:p>
          <a:p>
            <a:pPr lvl="2"/>
            <a:r>
              <a:rPr lang="en-US"/>
              <a:t>IMU: produce Inertial Motion Unit data</a:t>
            </a:r>
          </a:p>
          <a:p>
            <a:pPr lvl="1"/>
            <a:r>
              <a:rPr lang="en-US"/>
              <a:t>Example: </a:t>
            </a:r>
          </a:p>
        </p:txBody>
      </p:sp>
      <p:sp>
        <p:nvSpPr>
          <p:cNvPr id="4" name="Slide Number Placeholder 3">
            <a:extLst>
              <a:ext uri="{FF2B5EF4-FFF2-40B4-BE49-F238E27FC236}">
                <a16:creationId xmlns:a16="http://schemas.microsoft.com/office/drawing/2014/main" id="{F2C5E1A5-0031-DA52-5500-DC38A0A29D67}"/>
              </a:ext>
            </a:extLst>
          </p:cNvPr>
          <p:cNvSpPr>
            <a:spLocks noGrp="1"/>
          </p:cNvSpPr>
          <p:nvPr>
            <p:ph type="sldNum" sz="quarter" idx="12"/>
          </p:nvPr>
        </p:nvSpPr>
        <p:spPr/>
        <p:txBody>
          <a:bodyPr/>
          <a:lstStyle/>
          <a:p>
            <a:fld id="{3957FE44-DABC-424D-A234-74BB9410FF27}" type="slidenum">
              <a:rPr lang="en-US" smtClean="0"/>
              <a:pPr/>
              <a:t>40</a:t>
            </a:fld>
            <a:endParaRPr lang="en-US" dirty="0"/>
          </a:p>
        </p:txBody>
      </p:sp>
      <p:pic>
        <p:nvPicPr>
          <p:cNvPr id="6" name="Picture 5">
            <a:extLst>
              <a:ext uri="{FF2B5EF4-FFF2-40B4-BE49-F238E27FC236}">
                <a16:creationId xmlns:a16="http://schemas.microsoft.com/office/drawing/2014/main" id="{4B44810E-DF21-3204-0FA4-FD80D009747B}"/>
              </a:ext>
            </a:extLst>
          </p:cNvPr>
          <p:cNvPicPr>
            <a:picLocks noChangeAspect="1"/>
          </p:cNvPicPr>
          <p:nvPr/>
        </p:nvPicPr>
        <p:blipFill>
          <a:blip r:embed="rId2"/>
          <a:stretch>
            <a:fillRect/>
          </a:stretch>
        </p:blipFill>
        <p:spPr>
          <a:xfrm>
            <a:off x="381000" y="1821292"/>
            <a:ext cx="3429000" cy="4715758"/>
          </a:xfrm>
          <a:prstGeom prst="rect">
            <a:avLst/>
          </a:prstGeom>
        </p:spPr>
      </p:pic>
      <p:sp>
        <p:nvSpPr>
          <p:cNvPr id="9" name="TextBox 8">
            <a:extLst>
              <a:ext uri="{FF2B5EF4-FFF2-40B4-BE49-F238E27FC236}">
                <a16:creationId xmlns:a16="http://schemas.microsoft.com/office/drawing/2014/main" id="{D18AA030-0CFA-3A23-8D6A-1B3E384A0142}"/>
              </a:ext>
            </a:extLst>
          </p:cNvPr>
          <p:cNvSpPr txBox="1"/>
          <p:nvPr/>
        </p:nvSpPr>
        <p:spPr>
          <a:xfrm>
            <a:off x="4572000" y="5410200"/>
            <a:ext cx="3886200" cy="523220"/>
          </a:xfrm>
          <a:prstGeom prst="rect">
            <a:avLst/>
          </a:prstGeom>
          <a:noFill/>
        </p:spPr>
        <p:txBody>
          <a:bodyPr wrap="square">
            <a:spAutoFit/>
          </a:bodyPr>
          <a:lstStyle/>
          <a:p>
            <a:r>
              <a:rPr lang="en-US" sz="1400" i="1">
                <a:solidFill>
                  <a:srgbClr val="0070C0"/>
                </a:solidFill>
              </a:rPr>
              <a:t>https://classic.gazebosim.org/tutorials?tut=ros_gzplugins</a:t>
            </a:r>
          </a:p>
        </p:txBody>
      </p:sp>
    </p:spTree>
    <p:extLst>
      <p:ext uri="{BB962C8B-B14F-4D97-AF65-F5344CB8AC3E}">
        <p14:creationId xmlns:p14="http://schemas.microsoft.com/office/powerpoint/2010/main" val="2766930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5416</TotalTime>
  <Words>2226</Words>
  <Application>Microsoft Office PowerPoint</Application>
  <PresentationFormat>On-screen Show (4:3)</PresentationFormat>
  <Paragraphs>343</Paragraphs>
  <Slides>40</Slides>
  <Notes>8</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Courier New</vt:lpstr>
      <vt:lpstr>LiberationSerif</vt:lpstr>
      <vt:lpstr>Merriweather</vt:lpstr>
      <vt:lpstr>Open Sans</vt:lpstr>
      <vt:lpstr>Clarity</vt:lpstr>
      <vt:lpstr>  Robot Operating system</vt:lpstr>
      <vt:lpstr>Overview</vt:lpstr>
      <vt:lpstr>Introduction</vt:lpstr>
      <vt:lpstr>Introduction</vt:lpstr>
      <vt:lpstr>Introduction</vt:lpstr>
      <vt:lpstr>Introduction</vt:lpstr>
      <vt:lpstr>ROS philosophy</vt:lpstr>
      <vt:lpstr>ROS Build System</vt:lpstr>
      <vt:lpstr>ROS Workspace</vt:lpstr>
      <vt:lpstr>ROS Package</vt:lpstr>
      <vt:lpstr>How ROS works</vt:lpstr>
      <vt:lpstr>How ROS works</vt:lpstr>
      <vt:lpstr>ROS Master</vt:lpstr>
      <vt:lpstr>ROS Nodes</vt:lpstr>
      <vt:lpstr>ROS Nodes</vt:lpstr>
      <vt:lpstr>ROS Topics</vt:lpstr>
      <vt:lpstr>ROS Messages</vt:lpstr>
      <vt:lpstr>ROS Service</vt:lpstr>
      <vt:lpstr>ROS Launch</vt:lpstr>
      <vt:lpstr>ROS Example</vt:lpstr>
      <vt:lpstr>Nodes</vt:lpstr>
      <vt:lpstr>PowerPoint Presentation</vt:lpstr>
      <vt:lpstr>URDF - Unified Robot Description Format</vt:lpstr>
      <vt:lpstr>URDF Components</vt:lpstr>
      <vt:lpstr>Links and Joints</vt:lpstr>
      <vt:lpstr>Links and Joints</vt:lpstr>
      <vt:lpstr>Links and Joints</vt:lpstr>
      <vt:lpstr>Links and Joints</vt:lpstr>
      <vt:lpstr>Links and Joints</vt:lpstr>
      <vt:lpstr>Links and Joints</vt:lpstr>
      <vt:lpstr>Links and Joints</vt:lpstr>
      <vt:lpstr>XML macro - xacro</vt:lpstr>
      <vt:lpstr>Exercise</vt:lpstr>
      <vt:lpstr>PowerPoint Presentation</vt:lpstr>
      <vt:lpstr>Gazebo</vt:lpstr>
      <vt:lpstr>Gazebo</vt:lpstr>
      <vt:lpstr>Elements in Gazebo</vt:lpstr>
      <vt:lpstr>Elements in Gazebo</vt:lpstr>
      <vt:lpstr>Elements in Gazebo</vt:lpstr>
      <vt:lpstr>Elements in Gazebo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Thực tập vi điều khiển</dc:title>
  <dc:creator>haduc</dc:creator>
  <cp:lastModifiedBy>duc</cp:lastModifiedBy>
  <cp:revision>595</cp:revision>
  <dcterms:created xsi:type="dcterms:W3CDTF">2015-08-30T01:38:28Z</dcterms:created>
  <dcterms:modified xsi:type="dcterms:W3CDTF">2023-05-07T15:00:07Z</dcterms:modified>
</cp:coreProperties>
</file>